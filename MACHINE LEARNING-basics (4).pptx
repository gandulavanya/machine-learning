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922"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975" autoAdjust="0"/>
    <p:restoredTop sz="94660"/>
  </p:normalViewPr>
  <p:slideViewPr>
    <p:cSldViewPr snapToGrid="0">
      <p:cViewPr varScale="1">
        <p:scale>
          <a:sx n="103" d="100"/>
          <a:sy n="103" d="100"/>
        </p:scale>
        <p:origin x="96" y="35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ableStyles" Target="tableStyles.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589213" y="2514600"/>
            <a:ext cx="8915399" cy="2262781"/>
          </a:xfrm>
        </p:spPr>
        <p:txBody>
          <a:bodyPr anchor="b">
            <a:normAutofit/>
          </a:bodyPr>
          <a:lstStyle>
            <a:lvl1pPr>
              <a:defRPr sz="5400"/>
            </a:lvl1pPr>
          </a:lstStyle>
          <a:p>
            <a:r>
              <a:rPr lang="en-US" smtClean="0"/>
              <a:t>Click to edit Master title style</a:t>
            </a:r>
            <a:endParaRPr lang="en-US" dirty="0"/>
          </a:p>
        </p:txBody>
      </p:sp>
      <p:sp>
        <p:nvSpPr>
          <p:cNvPr id="3" name="Subtitle 2"/>
          <p:cNvSpPr>
            <a:spLocks noGrp="1"/>
          </p:cNvSpPr>
          <p:nvPr>
            <p:ph type="subTitle" idx="1"/>
          </p:nvPr>
        </p:nvSpPr>
        <p:spPr>
          <a:xfrm>
            <a:off x="2589213" y="4777379"/>
            <a:ext cx="8915399" cy="1126283"/>
          </a:xfrm>
        </p:spPr>
        <p:txBody>
          <a:bodyPr anchor="t"/>
          <a:lstStyle>
            <a:lvl1pPr marL="0" indent="0" algn="l">
              <a:buNone/>
              <a:defRPr>
                <a:solidFill>
                  <a:schemeClr val="tx1">
                    <a:lumMod val="65000"/>
                    <a:lumOff val="3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p>
            <a:fld id="{440A6F40-7F1C-45B7-997E-7D62C23D8709}" type="datetimeFigureOut">
              <a:rPr lang="en-IN" smtClean="0"/>
              <a:t>14-07-2025</a:t>
            </a:fld>
            <a:endParaRPr lang="en-IN"/>
          </a:p>
        </p:txBody>
      </p:sp>
      <p:sp>
        <p:nvSpPr>
          <p:cNvPr id="5" name="Footer Placeholder 4"/>
          <p:cNvSpPr>
            <a:spLocks noGrp="1"/>
          </p:cNvSpPr>
          <p:nvPr>
            <p:ph type="ftr" sz="quarter" idx="11"/>
          </p:nvPr>
        </p:nvSpPr>
        <p:spPr/>
        <p:txBody>
          <a:bodyPr/>
          <a:lstStyle/>
          <a:p>
            <a:endParaRPr lang="en-IN"/>
          </a:p>
        </p:txBody>
      </p:sp>
      <p:sp>
        <p:nvSpPr>
          <p:cNvPr id="7" name="Freeform 6"/>
          <p:cNvSpPr/>
          <p:nvPr/>
        </p:nvSpPr>
        <p:spPr bwMode="auto">
          <a:xfrm>
            <a:off x="0" y="4323810"/>
            <a:ext cx="1744652" cy="778589"/>
          </a:xfrm>
          <a:custGeom>
            <a:avLst/>
            <a:gdLst/>
            <a:ahLst/>
            <a:cxnLst/>
            <a:rect l="0" t="0" r="r" b="b"/>
            <a:pathLst>
              <a:path w="372" h="166">
                <a:moveTo>
                  <a:pt x="287" y="166"/>
                </a:moveTo>
                <a:cubicBezTo>
                  <a:pt x="290" y="166"/>
                  <a:pt x="292" y="165"/>
                  <a:pt x="293" y="164"/>
                </a:cubicBezTo>
                <a:cubicBezTo>
                  <a:pt x="293" y="163"/>
                  <a:pt x="294" y="163"/>
                  <a:pt x="294" y="163"/>
                </a:cubicBezTo>
                <a:cubicBezTo>
                  <a:pt x="370" y="87"/>
                  <a:pt x="370" y="87"/>
                  <a:pt x="370" y="87"/>
                </a:cubicBezTo>
                <a:cubicBezTo>
                  <a:pt x="372" y="85"/>
                  <a:pt x="372" y="81"/>
                  <a:pt x="370" y="78"/>
                </a:cubicBezTo>
                <a:cubicBezTo>
                  <a:pt x="294" y="3"/>
                  <a:pt x="294" y="3"/>
                  <a:pt x="294" y="3"/>
                </a:cubicBezTo>
                <a:cubicBezTo>
                  <a:pt x="294" y="2"/>
                  <a:pt x="293" y="2"/>
                  <a:pt x="293" y="2"/>
                </a:cubicBezTo>
                <a:cubicBezTo>
                  <a:pt x="292" y="1"/>
                  <a:pt x="290" y="0"/>
                  <a:pt x="287" y="0"/>
                </a:cubicBezTo>
                <a:cubicBezTo>
                  <a:pt x="0" y="0"/>
                  <a:pt x="0" y="0"/>
                  <a:pt x="0" y="0"/>
                </a:cubicBezTo>
                <a:cubicBezTo>
                  <a:pt x="0" y="166"/>
                  <a:pt x="0" y="166"/>
                  <a:pt x="0" y="166"/>
                </a:cubicBezTo>
                <a:lnTo>
                  <a:pt x="287" y="166"/>
                </a:lnTo>
                <a:close/>
              </a:path>
            </a:pathLst>
          </a:custGeom>
          <a:solidFill>
            <a:schemeClr val="accent1"/>
          </a:solidFill>
          <a:ln>
            <a:noFill/>
          </a:ln>
        </p:spPr>
      </p:sp>
      <p:sp>
        <p:nvSpPr>
          <p:cNvPr id="6" name="Slide Number Placeholder 5"/>
          <p:cNvSpPr>
            <a:spLocks noGrp="1"/>
          </p:cNvSpPr>
          <p:nvPr>
            <p:ph type="sldNum" sz="quarter" idx="12"/>
          </p:nvPr>
        </p:nvSpPr>
        <p:spPr>
          <a:xfrm>
            <a:off x="531812" y="4529540"/>
            <a:ext cx="779767" cy="365125"/>
          </a:xfrm>
        </p:spPr>
        <p:txBody>
          <a:bodyPr/>
          <a:lstStyle/>
          <a:p>
            <a:fld id="{56992BB3-3E04-4CDE-B191-C53A10D46E66}" type="slidenum">
              <a:rPr lang="en-IN" smtClean="0"/>
              <a:t>‹#›</a:t>
            </a:fld>
            <a:endParaRPr lang="en-IN"/>
          </a:p>
        </p:txBody>
      </p:sp>
    </p:spTree>
    <p:extLst>
      <p:ext uri="{BB962C8B-B14F-4D97-AF65-F5344CB8AC3E}">
        <p14:creationId xmlns:p14="http://schemas.microsoft.com/office/powerpoint/2010/main" val="371777248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2592925" y="624110"/>
            <a:ext cx="8911687" cy="1280890"/>
          </a:xfrm>
        </p:spPr>
        <p:txBody>
          <a:bodyPr/>
          <a:lstStyle/>
          <a:p>
            <a:r>
              <a:rPr lang="en-US" smtClean="0"/>
              <a:t>Click to edit Master title style</a:t>
            </a:r>
            <a:endParaRPr lang="en-US" dirty="0"/>
          </a:p>
        </p:txBody>
      </p:sp>
      <p:sp>
        <p:nvSpPr>
          <p:cNvPr id="3" name="Content Placeholder 2"/>
          <p:cNvSpPr>
            <a:spLocks noGrp="1"/>
          </p:cNvSpPr>
          <p:nvPr>
            <p:ph idx="1"/>
          </p:nvPr>
        </p:nvSpPr>
        <p:spPr>
          <a:xfrm>
            <a:off x="2589212" y="2133600"/>
            <a:ext cx="8915400" cy="3777622"/>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440A6F40-7F1C-45B7-997E-7D62C23D8709}" type="datetimeFigureOut">
              <a:rPr lang="en-IN" smtClean="0"/>
              <a:t>14-07-2025</a:t>
            </a:fld>
            <a:endParaRPr lang="en-IN"/>
          </a:p>
        </p:txBody>
      </p:sp>
      <p:sp>
        <p:nvSpPr>
          <p:cNvPr id="5" name="Footer Placeholder 4"/>
          <p:cNvSpPr>
            <a:spLocks noGrp="1"/>
          </p:cNvSpPr>
          <p:nvPr>
            <p:ph type="ftr" sz="quarter" idx="11"/>
          </p:nvPr>
        </p:nvSpPr>
        <p:spPr/>
        <p:txBody>
          <a:bodyPr/>
          <a:lstStyle/>
          <a:p>
            <a:endParaRPr lang="en-IN"/>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56992BB3-3E04-4CDE-B191-C53A10D46E66}" type="slidenum">
              <a:rPr lang="en-IN" smtClean="0"/>
              <a:t>‹#›</a:t>
            </a:fld>
            <a:endParaRPr lang="en-IN"/>
          </a:p>
        </p:txBody>
      </p:sp>
    </p:spTree>
    <p:extLst>
      <p:ext uri="{BB962C8B-B14F-4D97-AF65-F5344CB8AC3E}">
        <p14:creationId xmlns:p14="http://schemas.microsoft.com/office/powerpoint/2010/main" val="228849494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589212" y="2058750"/>
            <a:ext cx="8915399" cy="1468800"/>
          </a:xfrm>
        </p:spPr>
        <p:txBody>
          <a:bodyPr anchor="b"/>
          <a:lstStyle>
            <a:lvl1pPr algn="l">
              <a:defRPr sz="40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2589212" y="3530129"/>
            <a:ext cx="8915399" cy="860400"/>
          </a:xfrm>
        </p:spPr>
        <p:txBody>
          <a:bodyPr anchor="t"/>
          <a:lstStyle>
            <a:lvl1pPr marL="0" indent="0" algn="l">
              <a:buNone/>
              <a:defRPr sz="20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440A6F40-7F1C-45B7-997E-7D62C23D8709}" type="datetimeFigureOut">
              <a:rPr lang="en-IN" smtClean="0"/>
              <a:t>14-07-2025</a:t>
            </a:fld>
            <a:endParaRPr lang="en-IN"/>
          </a:p>
        </p:txBody>
      </p:sp>
      <p:sp>
        <p:nvSpPr>
          <p:cNvPr id="5" name="Footer Placeholder 4"/>
          <p:cNvSpPr>
            <a:spLocks noGrp="1"/>
          </p:cNvSpPr>
          <p:nvPr>
            <p:ph type="ftr" sz="quarter" idx="11"/>
          </p:nvPr>
        </p:nvSpPr>
        <p:spPr/>
        <p:txBody>
          <a:bodyPr/>
          <a:lstStyle/>
          <a:p>
            <a:endParaRPr lang="en-IN"/>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56992BB3-3E04-4CDE-B191-C53A10D46E66}" type="slidenum">
              <a:rPr lang="en-IN" smtClean="0"/>
              <a:t>‹#›</a:t>
            </a:fld>
            <a:endParaRPr lang="en-IN"/>
          </a:p>
        </p:txBody>
      </p:sp>
    </p:spTree>
    <p:extLst>
      <p:ext uri="{BB962C8B-B14F-4D97-AF65-F5344CB8AC3E}">
        <p14:creationId xmlns:p14="http://schemas.microsoft.com/office/powerpoint/2010/main" val="145633915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2589212" y="2133600"/>
            <a:ext cx="4313864" cy="3777622"/>
          </a:xfrm>
        </p:spPr>
        <p:txBody>
          <a:bodyP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7190747" y="2126222"/>
            <a:ext cx="4313864" cy="3777622"/>
          </a:xfrm>
        </p:spPr>
        <p:txBody>
          <a:bodyP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440A6F40-7F1C-45B7-997E-7D62C23D8709}" type="datetimeFigureOut">
              <a:rPr lang="en-IN" smtClean="0"/>
              <a:t>14-07-2025</a:t>
            </a:fld>
            <a:endParaRPr lang="en-IN"/>
          </a:p>
        </p:txBody>
      </p:sp>
      <p:sp>
        <p:nvSpPr>
          <p:cNvPr id="6" name="Footer Placeholder 5"/>
          <p:cNvSpPr>
            <a:spLocks noGrp="1"/>
          </p:cNvSpPr>
          <p:nvPr>
            <p:ph type="ftr" sz="quarter" idx="11"/>
          </p:nvPr>
        </p:nvSpPr>
        <p:spPr/>
        <p:txBody>
          <a:bodyPr/>
          <a:lstStyle/>
          <a:p>
            <a:endParaRPr lang="en-IN"/>
          </a:p>
        </p:txBody>
      </p:sp>
      <p:sp>
        <p:nvSpPr>
          <p:cNvPr id="12"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3" name="Slide Number Placeholder 5"/>
          <p:cNvSpPr>
            <a:spLocks noGrp="1"/>
          </p:cNvSpPr>
          <p:nvPr>
            <p:ph type="sldNum" sz="quarter" idx="12"/>
          </p:nvPr>
        </p:nvSpPr>
        <p:spPr>
          <a:xfrm>
            <a:off x="531812" y="787782"/>
            <a:ext cx="779767" cy="365125"/>
          </a:xfrm>
        </p:spPr>
        <p:txBody>
          <a:bodyPr/>
          <a:lstStyle/>
          <a:p>
            <a:fld id="{56992BB3-3E04-4CDE-B191-C53A10D46E66}" type="slidenum">
              <a:rPr lang="en-IN" smtClean="0"/>
              <a:t>‹#›</a:t>
            </a:fld>
            <a:endParaRPr lang="en-IN"/>
          </a:p>
        </p:txBody>
      </p:sp>
    </p:spTree>
    <p:extLst>
      <p:ext uri="{BB962C8B-B14F-4D97-AF65-F5344CB8AC3E}">
        <p14:creationId xmlns:p14="http://schemas.microsoft.com/office/powerpoint/2010/main" val="357233126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smtClean="0"/>
              <a:t>Click to edit Master title style</a:t>
            </a:r>
            <a:endParaRPr lang="en-US" dirty="0"/>
          </a:p>
        </p:txBody>
      </p:sp>
      <p:sp>
        <p:nvSpPr>
          <p:cNvPr id="3" name="Text Placeholder 2"/>
          <p:cNvSpPr>
            <a:spLocks noGrp="1"/>
          </p:cNvSpPr>
          <p:nvPr>
            <p:ph type="body" idx="1"/>
          </p:nvPr>
        </p:nvSpPr>
        <p:spPr>
          <a:xfrm>
            <a:off x="2939373" y="1972703"/>
            <a:ext cx="399273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2589212" y="2548966"/>
            <a:ext cx="4342893" cy="3354060"/>
          </a:xfrm>
        </p:spPr>
        <p:txBody>
          <a:bodyP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7506629" y="1969475"/>
            <a:ext cx="3999001"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7166957" y="2545738"/>
            <a:ext cx="4338674" cy="3354060"/>
          </a:xfrm>
        </p:spPr>
        <p:txBody>
          <a:bodyP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440A6F40-7F1C-45B7-997E-7D62C23D8709}" type="datetimeFigureOut">
              <a:rPr lang="en-IN" smtClean="0"/>
              <a:t>14-07-2025</a:t>
            </a:fld>
            <a:endParaRPr lang="en-IN"/>
          </a:p>
        </p:txBody>
      </p:sp>
      <p:sp>
        <p:nvSpPr>
          <p:cNvPr id="8" name="Footer Placeholder 7"/>
          <p:cNvSpPr>
            <a:spLocks noGrp="1"/>
          </p:cNvSpPr>
          <p:nvPr>
            <p:ph type="ftr" sz="quarter" idx="11"/>
          </p:nvPr>
        </p:nvSpPr>
        <p:spPr/>
        <p:txBody>
          <a:bodyPr/>
          <a:lstStyle/>
          <a:p>
            <a:endParaRPr lang="en-IN"/>
          </a:p>
        </p:txBody>
      </p:sp>
      <p:sp>
        <p:nvSpPr>
          <p:cNvPr id="12"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3" name="Slide Number Placeholder 5"/>
          <p:cNvSpPr>
            <a:spLocks noGrp="1"/>
          </p:cNvSpPr>
          <p:nvPr>
            <p:ph type="sldNum" sz="quarter" idx="12"/>
          </p:nvPr>
        </p:nvSpPr>
        <p:spPr>
          <a:xfrm>
            <a:off x="531812" y="787782"/>
            <a:ext cx="779767" cy="365125"/>
          </a:xfrm>
        </p:spPr>
        <p:txBody>
          <a:bodyPr/>
          <a:lstStyle/>
          <a:p>
            <a:fld id="{56992BB3-3E04-4CDE-B191-C53A10D46E66}" type="slidenum">
              <a:rPr lang="en-IN" smtClean="0"/>
              <a:t>‹#›</a:t>
            </a:fld>
            <a:endParaRPr lang="en-IN"/>
          </a:p>
        </p:txBody>
      </p:sp>
    </p:spTree>
    <p:extLst>
      <p:ext uri="{BB962C8B-B14F-4D97-AF65-F5344CB8AC3E}">
        <p14:creationId xmlns:p14="http://schemas.microsoft.com/office/powerpoint/2010/main" val="13550213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440A6F40-7F1C-45B7-997E-7D62C23D8709}" type="datetimeFigureOut">
              <a:rPr lang="en-IN" smtClean="0"/>
              <a:t>14-07-2025</a:t>
            </a:fld>
            <a:endParaRPr lang="en-IN"/>
          </a:p>
        </p:txBody>
      </p:sp>
      <p:sp>
        <p:nvSpPr>
          <p:cNvPr id="4" name="Footer Placeholder 3"/>
          <p:cNvSpPr>
            <a:spLocks noGrp="1"/>
          </p:cNvSpPr>
          <p:nvPr>
            <p:ph type="ftr" sz="quarter" idx="11"/>
          </p:nvPr>
        </p:nvSpPr>
        <p:spPr/>
        <p:txBody>
          <a:bodyPr/>
          <a:lstStyle/>
          <a:p>
            <a:endParaRPr lang="en-IN"/>
          </a:p>
        </p:txBody>
      </p:sp>
      <p:sp>
        <p:nvSpPr>
          <p:cNvPr id="7"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5" name="Slide Number Placeholder 4"/>
          <p:cNvSpPr>
            <a:spLocks noGrp="1"/>
          </p:cNvSpPr>
          <p:nvPr>
            <p:ph type="sldNum" sz="quarter" idx="12"/>
          </p:nvPr>
        </p:nvSpPr>
        <p:spPr/>
        <p:txBody>
          <a:bodyPr/>
          <a:lstStyle/>
          <a:p>
            <a:fld id="{56992BB3-3E04-4CDE-B191-C53A10D46E66}" type="slidenum">
              <a:rPr lang="en-IN" smtClean="0"/>
              <a:t>‹#›</a:t>
            </a:fld>
            <a:endParaRPr lang="en-IN"/>
          </a:p>
        </p:txBody>
      </p:sp>
    </p:spTree>
    <p:extLst>
      <p:ext uri="{BB962C8B-B14F-4D97-AF65-F5344CB8AC3E}">
        <p14:creationId xmlns:p14="http://schemas.microsoft.com/office/powerpoint/2010/main" val="52707946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40A6F40-7F1C-45B7-997E-7D62C23D8709}" type="datetimeFigureOut">
              <a:rPr lang="en-IN" smtClean="0"/>
              <a:t>14-07-2025</a:t>
            </a:fld>
            <a:endParaRPr lang="en-IN"/>
          </a:p>
        </p:txBody>
      </p:sp>
      <p:sp>
        <p:nvSpPr>
          <p:cNvPr id="3" name="Footer Placeholder 2"/>
          <p:cNvSpPr>
            <a:spLocks noGrp="1"/>
          </p:cNvSpPr>
          <p:nvPr>
            <p:ph type="ftr" sz="quarter" idx="11"/>
          </p:nvPr>
        </p:nvSpPr>
        <p:spPr/>
        <p:txBody>
          <a:bodyPr/>
          <a:lstStyle/>
          <a:p>
            <a:endParaRPr lang="en-IN"/>
          </a:p>
        </p:txBody>
      </p:sp>
      <p:sp>
        <p:nvSpPr>
          <p:cNvPr id="6"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4" name="Slide Number Placeholder 3"/>
          <p:cNvSpPr>
            <a:spLocks noGrp="1"/>
          </p:cNvSpPr>
          <p:nvPr>
            <p:ph type="sldNum" sz="quarter" idx="12"/>
          </p:nvPr>
        </p:nvSpPr>
        <p:spPr/>
        <p:txBody>
          <a:bodyPr/>
          <a:lstStyle/>
          <a:p>
            <a:fld id="{56992BB3-3E04-4CDE-B191-C53A10D46E66}" type="slidenum">
              <a:rPr lang="en-IN" smtClean="0"/>
              <a:t>‹#›</a:t>
            </a:fld>
            <a:endParaRPr lang="en-IN"/>
          </a:p>
        </p:txBody>
      </p:sp>
    </p:spTree>
    <p:extLst>
      <p:ext uri="{BB962C8B-B14F-4D97-AF65-F5344CB8AC3E}">
        <p14:creationId xmlns:p14="http://schemas.microsoft.com/office/powerpoint/2010/main" val="174015019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446088"/>
            <a:ext cx="3505199" cy="976312"/>
          </a:xfrm>
        </p:spPr>
        <p:txBody>
          <a:bodyPr anchor="b"/>
          <a:lstStyle>
            <a:lvl1pPr algn="l">
              <a:defRPr sz="2000" b="0"/>
            </a:lvl1pPr>
          </a:lstStyle>
          <a:p>
            <a:r>
              <a:rPr lang="en-US" smtClean="0"/>
              <a:t>Click to edit Master title style</a:t>
            </a:r>
            <a:endParaRPr lang="en-US" dirty="0"/>
          </a:p>
        </p:txBody>
      </p:sp>
      <p:sp>
        <p:nvSpPr>
          <p:cNvPr id="3" name="Content Placeholder 2"/>
          <p:cNvSpPr>
            <a:spLocks noGrp="1"/>
          </p:cNvSpPr>
          <p:nvPr>
            <p:ph idx="1"/>
          </p:nvPr>
        </p:nvSpPr>
        <p:spPr>
          <a:xfrm>
            <a:off x="6323012" y="446088"/>
            <a:ext cx="5181600" cy="5414963"/>
          </a:xfrm>
        </p:spPr>
        <p:txBody>
          <a:bodyPr anchor="ct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2589212" y="1598613"/>
            <a:ext cx="3505199" cy="4262436"/>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440A6F40-7F1C-45B7-997E-7D62C23D8709}" type="datetimeFigureOut">
              <a:rPr lang="en-IN" smtClean="0"/>
              <a:t>14-07-2025</a:t>
            </a:fld>
            <a:endParaRPr lang="en-IN"/>
          </a:p>
        </p:txBody>
      </p:sp>
      <p:sp>
        <p:nvSpPr>
          <p:cNvPr id="6" name="Footer Placeholder 5"/>
          <p:cNvSpPr>
            <a:spLocks noGrp="1"/>
          </p:cNvSpPr>
          <p:nvPr>
            <p:ph type="ftr" sz="quarter" idx="11"/>
          </p:nvPr>
        </p:nvSpPr>
        <p:spPr/>
        <p:txBody>
          <a:bodyPr/>
          <a:lstStyle/>
          <a:p>
            <a:endParaRPr lang="en-IN"/>
          </a:p>
        </p:txBody>
      </p:sp>
      <p:sp>
        <p:nvSpPr>
          <p:cNvPr id="9"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p:txBody>
          <a:bodyPr/>
          <a:lstStyle/>
          <a:p>
            <a:fld id="{56992BB3-3E04-4CDE-B191-C53A10D46E66}" type="slidenum">
              <a:rPr lang="en-IN" smtClean="0"/>
              <a:t>‹#›</a:t>
            </a:fld>
            <a:endParaRPr lang="en-IN"/>
          </a:p>
        </p:txBody>
      </p:sp>
    </p:spTree>
    <p:extLst>
      <p:ext uri="{BB962C8B-B14F-4D97-AF65-F5344CB8AC3E}">
        <p14:creationId xmlns:p14="http://schemas.microsoft.com/office/powerpoint/2010/main" val="140202749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3" y="4800600"/>
            <a:ext cx="8915400" cy="566738"/>
          </a:xfrm>
        </p:spPr>
        <p:txBody>
          <a:bodyPr anchor="b">
            <a:normAutofit/>
          </a:bodyPr>
          <a:lstStyle>
            <a:lvl1pPr algn="l">
              <a:defRPr sz="2400" b="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2589212" y="634965"/>
            <a:ext cx="8915400" cy="3854970"/>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4" name="Text Placeholder 3"/>
          <p:cNvSpPr>
            <a:spLocks noGrp="1"/>
          </p:cNvSpPr>
          <p:nvPr>
            <p:ph type="body" sz="half" idx="2"/>
          </p:nvPr>
        </p:nvSpPr>
        <p:spPr>
          <a:xfrm>
            <a:off x="2589213" y="5367338"/>
            <a:ext cx="8915400"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440A6F40-7F1C-45B7-997E-7D62C23D8709}" type="datetimeFigureOut">
              <a:rPr lang="en-IN" smtClean="0"/>
              <a:t>14-07-2025</a:t>
            </a:fld>
            <a:endParaRPr lang="en-IN"/>
          </a:p>
        </p:txBody>
      </p:sp>
      <p:sp>
        <p:nvSpPr>
          <p:cNvPr id="6" name="Footer Placeholder 5"/>
          <p:cNvSpPr>
            <a:spLocks noGrp="1"/>
          </p:cNvSpPr>
          <p:nvPr>
            <p:ph type="ftr" sz="quarter" idx="11"/>
          </p:nvPr>
        </p:nvSpPr>
        <p:spPr/>
        <p:txBody>
          <a:bodyPr/>
          <a:lstStyle/>
          <a:p>
            <a:endParaRPr lang="en-IN"/>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56992BB3-3E04-4CDE-B191-C53A10D46E66}" type="slidenum">
              <a:rPr lang="en-IN" smtClean="0"/>
              <a:t>‹#›</a:t>
            </a:fld>
            <a:endParaRPr lang="en-IN"/>
          </a:p>
        </p:txBody>
      </p:sp>
    </p:spTree>
    <p:extLst>
      <p:ext uri="{BB962C8B-B14F-4D97-AF65-F5344CB8AC3E}">
        <p14:creationId xmlns:p14="http://schemas.microsoft.com/office/powerpoint/2010/main" val="409844619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609600"/>
            <a:ext cx="8915399" cy="3117040"/>
          </a:xfrm>
        </p:spPr>
        <p:txBody>
          <a:bodyPr anchor="ctr">
            <a:normAutofit/>
          </a:bodyPr>
          <a:lstStyle>
            <a:lvl1pPr algn="l">
              <a:defRPr sz="48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440A6F40-7F1C-45B7-997E-7D62C23D8709}" type="datetimeFigureOut">
              <a:rPr lang="en-IN" smtClean="0"/>
              <a:t>14-07-2025</a:t>
            </a:fld>
            <a:endParaRPr lang="en-IN"/>
          </a:p>
        </p:txBody>
      </p:sp>
      <p:sp>
        <p:nvSpPr>
          <p:cNvPr id="5" name="Footer Placeholder 4"/>
          <p:cNvSpPr>
            <a:spLocks noGrp="1"/>
          </p:cNvSpPr>
          <p:nvPr>
            <p:ph type="ftr" sz="quarter" idx="11"/>
          </p:nvPr>
        </p:nvSpPr>
        <p:spPr/>
        <p:txBody>
          <a:bodyPr/>
          <a:lstStyle/>
          <a:p>
            <a:endParaRPr lang="en-IN"/>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56992BB3-3E04-4CDE-B191-C53A10D46E66}" type="slidenum">
              <a:rPr lang="en-IN" smtClean="0"/>
              <a:t>‹#›</a:t>
            </a:fld>
            <a:endParaRPr lang="en-IN"/>
          </a:p>
        </p:txBody>
      </p:sp>
    </p:spTree>
    <p:extLst>
      <p:ext uri="{BB962C8B-B14F-4D97-AF65-F5344CB8AC3E}">
        <p14:creationId xmlns:p14="http://schemas.microsoft.com/office/powerpoint/2010/main" val="271103776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smtClean="0"/>
              <a:t>Click to edit Master title style</a:t>
            </a:r>
            <a:endParaRPr lang="en-US" dirty="0"/>
          </a:p>
        </p:txBody>
      </p:sp>
      <p:sp>
        <p:nvSpPr>
          <p:cNvPr id="13" name="Text Placeholder 9"/>
          <p:cNvSpPr>
            <a:spLocks noGrp="1"/>
          </p:cNvSpPr>
          <p:nvPr>
            <p:ph type="body" sz="quarter" idx="13"/>
          </p:nvPr>
        </p:nvSpPr>
        <p:spPr>
          <a:xfrm>
            <a:off x="3275012" y="3505200"/>
            <a:ext cx="753655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Click to edit Master text styles</a:t>
            </a:r>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440A6F40-7F1C-45B7-997E-7D62C23D8709}" type="datetimeFigureOut">
              <a:rPr lang="en-IN" smtClean="0"/>
              <a:t>14-07-2025</a:t>
            </a:fld>
            <a:endParaRPr lang="en-IN"/>
          </a:p>
        </p:txBody>
      </p:sp>
      <p:sp>
        <p:nvSpPr>
          <p:cNvPr id="5" name="Footer Placeholder 4"/>
          <p:cNvSpPr>
            <a:spLocks noGrp="1"/>
          </p:cNvSpPr>
          <p:nvPr>
            <p:ph type="ftr" sz="quarter" idx="11"/>
          </p:nvPr>
        </p:nvSpPr>
        <p:spPr/>
        <p:txBody>
          <a:bodyPr/>
          <a:lstStyle/>
          <a:p>
            <a:endParaRPr lang="en-IN"/>
          </a:p>
        </p:txBody>
      </p:sp>
      <p:sp>
        <p:nvSpPr>
          <p:cNvPr id="11"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56992BB3-3E04-4CDE-B191-C53A10D46E66}" type="slidenum">
              <a:rPr lang="en-IN" smtClean="0"/>
              <a:t>‹#›</a:t>
            </a:fld>
            <a:endParaRPr lang="en-IN"/>
          </a:p>
        </p:txBody>
      </p:sp>
      <p:sp>
        <p:nvSpPr>
          <p:cNvPr id="14" name="TextBox 13"/>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5" name="TextBox 14"/>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208685389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2589213" y="2438400"/>
            <a:ext cx="8915400" cy="2724845"/>
          </a:xfrm>
        </p:spPr>
        <p:txBody>
          <a:bodyPr anchor="b">
            <a:normAutofit/>
          </a:bodyPr>
          <a:lstStyle>
            <a:lvl1pPr algn="l">
              <a:defRPr sz="4800" b="0"/>
            </a:lvl1pPr>
          </a:lstStyle>
          <a:p>
            <a:r>
              <a:rPr lang="en-US" smtClean="0"/>
              <a:t>Click to edit Master title style</a:t>
            </a:r>
            <a:endParaRPr lang="en-US" dirty="0"/>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smtClean="0"/>
              <a:t>Click to edit Master text styles</a:t>
            </a:r>
          </a:p>
        </p:txBody>
      </p:sp>
      <p:sp>
        <p:nvSpPr>
          <p:cNvPr id="5" name="Date Placeholder 4"/>
          <p:cNvSpPr>
            <a:spLocks noGrp="1"/>
          </p:cNvSpPr>
          <p:nvPr>
            <p:ph type="dt" sz="half" idx="10"/>
          </p:nvPr>
        </p:nvSpPr>
        <p:spPr/>
        <p:txBody>
          <a:bodyPr/>
          <a:lstStyle/>
          <a:p>
            <a:fld id="{440A6F40-7F1C-45B7-997E-7D62C23D8709}" type="datetimeFigureOut">
              <a:rPr lang="en-IN" smtClean="0"/>
              <a:t>14-07-2025</a:t>
            </a:fld>
            <a:endParaRPr lang="en-IN"/>
          </a:p>
        </p:txBody>
      </p:sp>
      <p:sp>
        <p:nvSpPr>
          <p:cNvPr id="6" name="Footer Placeholder 5"/>
          <p:cNvSpPr>
            <a:spLocks noGrp="1"/>
          </p:cNvSpPr>
          <p:nvPr>
            <p:ph type="ftr" sz="quarter" idx="11"/>
          </p:nvPr>
        </p:nvSpPr>
        <p:spPr/>
        <p:txBody>
          <a:bodyPr/>
          <a:lstStyle/>
          <a:p>
            <a:endParaRPr lang="en-IN"/>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56992BB3-3E04-4CDE-B191-C53A10D46E66}" type="slidenum">
              <a:rPr lang="en-IN" smtClean="0"/>
              <a:t>‹#›</a:t>
            </a:fld>
            <a:endParaRPr lang="en-IN"/>
          </a:p>
        </p:txBody>
      </p:sp>
    </p:spTree>
    <p:extLst>
      <p:ext uri="{BB962C8B-B14F-4D97-AF65-F5344CB8AC3E}">
        <p14:creationId xmlns:p14="http://schemas.microsoft.com/office/powerpoint/2010/main" val="21370650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smtClean="0"/>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Click to 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smtClean="0"/>
              <a:t>Click to edit Master text styles</a:t>
            </a:r>
          </a:p>
        </p:txBody>
      </p:sp>
      <p:sp>
        <p:nvSpPr>
          <p:cNvPr id="5" name="Date Placeholder 4"/>
          <p:cNvSpPr>
            <a:spLocks noGrp="1"/>
          </p:cNvSpPr>
          <p:nvPr>
            <p:ph type="dt" sz="half" idx="10"/>
          </p:nvPr>
        </p:nvSpPr>
        <p:spPr/>
        <p:txBody>
          <a:bodyPr/>
          <a:lstStyle/>
          <a:p>
            <a:fld id="{440A6F40-7F1C-45B7-997E-7D62C23D8709}" type="datetimeFigureOut">
              <a:rPr lang="en-IN" smtClean="0"/>
              <a:t>14-07-2025</a:t>
            </a:fld>
            <a:endParaRPr lang="en-IN"/>
          </a:p>
        </p:txBody>
      </p:sp>
      <p:sp>
        <p:nvSpPr>
          <p:cNvPr id="6" name="Footer Placeholder 5"/>
          <p:cNvSpPr>
            <a:spLocks noGrp="1"/>
          </p:cNvSpPr>
          <p:nvPr>
            <p:ph type="ftr" sz="quarter" idx="11"/>
          </p:nvPr>
        </p:nvSpPr>
        <p:spPr/>
        <p:txBody>
          <a:bodyPr/>
          <a:lstStyle/>
          <a:p>
            <a:endParaRPr lang="en-IN"/>
          </a:p>
        </p:txBody>
      </p:sp>
      <p:sp>
        <p:nvSpPr>
          <p:cNvPr id="11"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56992BB3-3E04-4CDE-B191-C53A10D46E66}" type="slidenum">
              <a:rPr lang="en-IN" smtClean="0"/>
              <a:t>‹#›</a:t>
            </a:fld>
            <a:endParaRPr lang="en-IN"/>
          </a:p>
        </p:txBody>
      </p:sp>
      <p:sp>
        <p:nvSpPr>
          <p:cNvPr id="17" name="TextBox 16"/>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8" name="TextBox 17"/>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265585836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2589212" y="627407"/>
            <a:ext cx="8915399" cy="2880020"/>
          </a:xfrm>
        </p:spPr>
        <p:txBody>
          <a:bodyPr anchor="ctr">
            <a:normAutofit/>
          </a:bodyPr>
          <a:lstStyle>
            <a:lvl1pPr algn="l">
              <a:defRPr sz="4800" b="0"/>
            </a:lvl1pPr>
          </a:lstStyle>
          <a:p>
            <a:r>
              <a:rPr lang="en-US" smtClean="0"/>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Click to 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smtClean="0"/>
              <a:t>Click to edit Master text styles</a:t>
            </a:r>
          </a:p>
        </p:txBody>
      </p:sp>
      <p:sp>
        <p:nvSpPr>
          <p:cNvPr id="5" name="Date Placeholder 4"/>
          <p:cNvSpPr>
            <a:spLocks noGrp="1"/>
          </p:cNvSpPr>
          <p:nvPr>
            <p:ph type="dt" sz="half" idx="10"/>
          </p:nvPr>
        </p:nvSpPr>
        <p:spPr/>
        <p:txBody>
          <a:bodyPr/>
          <a:lstStyle/>
          <a:p>
            <a:fld id="{440A6F40-7F1C-45B7-997E-7D62C23D8709}" type="datetimeFigureOut">
              <a:rPr lang="en-IN" smtClean="0"/>
              <a:t>14-07-2025</a:t>
            </a:fld>
            <a:endParaRPr lang="en-IN"/>
          </a:p>
        </p:txBody>
      </p:sp>
      <p:sp>
        <p:nvSpPr>
          <p:cNvPr id="6" name="Footer Placeholder 5"/>
          <p:cNvSpPr>
            <a:spLocks noGrp="1"/>
          </p:cNvSpPr>
          <p:nvPr>
            <p:ph type="ftr" sz="quarter" idx="11"/>
          </p:nvPr>
        </p:nvSpPr>
        <p:spPr/>
        <p:txBody>
          <a:bodyPr/>
          <a:lstStyle/>
          <a:p>
            <a:endParaRPr lang="en-IN"/>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56992BB3-3E04-4CDE-B191-C53A10D46E66}" type="slidenum">
              <a:rPr lang="en-IN" smtClean="0"/>
              <a:t>‹#›</a:t>
            </a:fld>
            <a:endParaRPr lang="en-IN"/>
          </a:p>
        </p:txBody>
      </p:sp>
    </p:spTree>
    <p:extLst>
      <p:ext uri="{BB962C8B-B14F-4D97-AF65-F5344CB8AC3E}">
        <p14:creationId xmlns:p14="http://schemas.microsoft.com/office/powerpoint/2010/main" val="360915067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440A6F40-7F1C-45B7-997E-7D62C23D8709}" type="datetimeFigureOut">
              <a:rPr lang="en-IN" smtClean="0"/>
              <a:t>14-07-2025</a:t>
            </a:fld>
            <a:endParaRPr lang="en-IN"/>
          </a:p>
        </p:txBody>
      </p:sp>
      <p:sp>
        <p:nvSpPr>
          <p:cNvPr id="5" name="Footer Placeholder 4"/>
          <p:cNvSpPr>
            <a:spLocks noGrp="1"/>
          </p:cNvSpPr>
          <p:nvPr>
            <p:ph type="ftr" sz="quarter" idx="11"/>
          </p:nvPr>
        </p:nvSpPr>
        <p:spPr/>
        <p:txBody>
          <a:bodyPr/>
          <a:lstStyle/>
          <a:p>
            <a:endParaRPr lang="en-IN"/>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56992BB3-3E04-4CDE-B191-C53A10D46E66}" type="slidenum">
              <a:rPr lang="en-IN" smtClean="0"/>
              <a:t>‹#›</a:t>
            </a:fld>
            <a:endParaRPr lang="en-IN"/>
          </a:p>
        </p:txBody>
      </p:sp>
    </p:spTree>
    <p:extLst>
      <p:ext uri="{BB962C8B-B14F-4D97-AF65-F5344CB8AC3E}">
        <p14:creationId xmlns:p14="http://schemas.microsoft.com/office/powerpoint/2010/main" val="276098767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294812" y="627405"/>
            <a:ext cx="2207601" cy="5283817"/>
          </a:xfrm>
        </p:spPr>
        <p:txBody>
          <a:bodyPr vert="eaVert" anchor="ctr"/>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2589212" y="627405"/>
            <a:ext cx="6477000" cy="5283817"/>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440A6F40-7F1C-45B7-997E-7D62C23D8709}" type="datetimeFigureOut">
              <a:rPr lang="en-IN" smtClean="0"/>
              <a:t>14-07-2025</a:t>
            </a:fld>
            <a:endParaRPr lang="en-IN"/>
          </a:p>
        </p:txBody>
      </p:sp>
      <p:sp>
        <p:nvSpPr>
          <p:cNvPr id="5" name="Footer Placeholder 4"/>
          <p:cNvSpPr>
            <a:spLocks noGrp="1"/>
          </p:cNvSpPr>
          <p:nvPr>
            <p:ph type="ftr" sz="quarter" idx="11"/>
          </p:nvPr>
        </p:nvSpPr>
        <p:spPr/>
        <p:txBody>
          <a:bodyPr/>
          <a:lstStyle/>
          <a:p>
            <a:endParaRPr lang="en-IN"/>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56992BB3-3E04-4CDE-B191-C53A10D46E66}" type="slidenum">
              <a:rPr lang="en-IN" smtClean="0"/>
              <a:t>‹#›</a:t>
            </a:fld>
            <a:endParaRPr lang="en-IN"/>
          </a:p>
        </p:txBody>
      </p:sp>
    </p:spTree>
    <p:extLst>
      <p:ext uri="{BB962C8B-B14F-4D97-AF65-F5344CB8AC3E}">
        <p14:creationId xmlns:p14="http://schemas.microsoft.com/office/powerpoint/2010/main" val="34105752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2">
        <a:schemeClr val="bg2"/>
      </p:bgRef>
    </p:bg>
    <p:spTree>
      <p:nvGrpSpPr>
        <p:cNvPr id="1" name=""/>
        <p:cNvGrpSpPr/>
        <p:nvPr/>
      </p:nvGrpSpPr>
      <p:grpSpPr>
        <a:xfrm>
          <a:off x="0" y="0"/>
          <a:ext cx="0" cy="0"/>
          <a:chOff x="0" y="0"/>
          <a:chExt cx="0" cy="0"/>
        </a:xfrm>
      </p:grpSpPr>
      <p:grpSp>
        <p:nvGrpSpPr>
          <p:cNvPr id="23" name="Group 22"/>
          <p:cNvGrpSpPr/>
          <p:nvPr/>
        </p:nvGrpSpPr>
        <p:grpSpPr>
          <a:xfrm>
            <a:off x="1" y="228600"/>
            <a:ext cx="2851516" cy="6638628"/>
            <a:chOff x="2487613" y="285750"/>
            <a:chExt cx="2428875" cy="5654676"/>
          </a:xfrm>
        </p:grpSpPr>
        <p:sp>
          <p:nvSpPr>
            <p:cNvPr id="24" name="Freeform 11"/>
            <p:cNvSpPr/>
            <p:nvPr/>
          </p:nvSpPr>
          <p:spPr bwMode="auto">
            <a:xfrm>
              <a:off x="2487613" y="2284413"/>
              <a:ext cx="85725" cy="533400"/>
            </a:xfrm>
            <a:custGeom>
              <a:avLst/>
              <a:gdLst/>
              <a:ahLst/>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a:noFill/>
            </a:ln>
          </p:spPr>
        </p:sp>
        <p:sp>
          <p:nvSpPr>
            <p:cNvPr id="25" name="Freeform 12"/>
            <p:cNvSpPr/>
            <p:nvPr/>
          </p:nvSpPr>
          <p:spPr bwMode="auto">
            <a:xfrm>
              <a:off x="2597151" y="2779713"/>
              <a:ext cx="550863" cy="1978025"/>
            </a:xfrm>
            <a:custGeom>
              <a:avLst/>
              <a:gdLst/>
              <a:ahLst/>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a:noFill/>
            </a:ln>
          </p:spPr>
        </p:sp>
        <p:sp>
          <p:nvSpPr>
            <p:cNvPr id="26" name="Freeform 13"/>
            <p:cNvSpPr/>
            <p:nvPr/>
          </p:nvSpPr>
          <p:spPr bwMode="auto">
            <a:xfrm>
              <a:off x="3175001" y="4730750"/>
              <a:ext cx="519113" cy="1209675"/>
            </a:xfrm>
            <a:custGeom>
              <a:avLst/>
              <a:gdLst/>
              <a:ahLst/>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a:noFill/>
            </a:ln>
          </p:spPr>
        </p:sp>
        <p:sp>
          <p:nvSpPr>
            <p:cNvPr id="27" name="Freeform 14"/>
            <p:cNvSpPr/>
            <p:nvPr/>
          </p:nvSpPr>
          <p:spPr bwMode="auto">
            <a:xfrm>
              <a:off x="3305176" y="5630863"/>
              <a:ext cx="146050" cy="309563"/>
            </a:xfrm>
            <a:custGeom>
              <a:avLst/>
              <a:gdLst/>
              <a:ahLst/>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a:noFill/>
            </a:ln>
          </p:spPr>
        </p:sp>
        <p:sp>
          <p:nvSpPr>
            <p:cNvPr id="28" name="Freeform 15"/>
            <p:cNvSpPr/>
            <p:nvPr/>
          </p:nvSpPr>
          <p:spPr bwMode="auto">
            <a:xfrm>
              <a:off x="2573338" y="2817813"/>
              <a:ext cx="700088" cy="2835275"/>
            </a:xfrm>
            <a:custGeom>
              <a:avLst/>
              <a:gdLst/>
              <a:ahLst/>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a:noFill/>
            </a:ln>
          </p:spPr>
        </p:sp>
        <p:sp>
          <p:nvSpPr>
            <p:cNvPr id="29" name="Freeform 16"/>
            <p:cNvSpPr/>
            <p:nvPr/>
          </p:nvSpPr>
          <p:spPr bwMode="auto">
            <a:xfrm>
              <a:off x="2506663" y="285750"/>
              <a:ext cx="90488" cy="2493963"/>
            </a:xfrm>
            <a:custGeom>
              <a:avLst/>
              <a:gdLst/>
              <a:ahLst/>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a:noFill/>
            </a:ln>
          </p:spPr>
        </p:sp>
        <p:sp>
          <p:nvSpPr>
            <p:cNvPr id="30" name="Freeform 17"/>
            <p:cNvSpPr/>
            <p:nvPr/>
          </p:nvSpPr>
          <p:spPr bwMode="auto">
            <a:xfrm>
              <a:off x="2554288" y="2598738"/>
              <a:ext cx="66675" cy="420688"/>
            </a:xfrm>
            <a:custGeom>
              <a:avLst/>
              <a:gdLst/>
              <a:ahLst/>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a:noFill/>
            </a:ln>
          </p:spPr>
        </p:sp>
        <p:sp>
          <p:nvSpPr>
            <p:cNvPr id="31" name="Freeform 18"/>
            <p:cNvSpPr/>
            <p:nvPr/>
          </p:nvSpPr>
          <p:spPr bwMode="auto">
            <a:xfrm>
              <a:off x="3143251" y="4757738"/>
              <a:ext cx="161925" cy="873125"/>
            </a:xfrm>
            <a:custGeom>
              <a:avLst/>
              <a:gdLst/>
              <a:ahLst/>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a:noFill/>
            </a:ln>
          </p:spPr>
        </p:sp>
        <p:sp>
          <p:nvSpPr>
            <p:cNvPr id="32" name="Freeform 19"/>
            <p:cNvSpPr/>
            <p:nvPr/>
          </p:nvSpPr>
          <p:spPr bwMode="auto">
            <a:xfrm>
              <a:off x="3148013" y="1282700"/>
              <a:ext cx="1768475" cy="3448050"/>
            </a:xfrm>
            <a:custGeom>
              <a:avLst/>
              <a:gdLst/>
              <a:ahLst/>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a:noFill/>
            </a:ln>
          </p:spPr>
        </p:sp>
        <p:sp>
          <p:nvSpPr>
            <p:cNvPr id="33" name="Freeform 20"/>
            <p:cNvSpPr/>
            <p:nvPr/>
          </p:nvSpPr>
          <p:spPr bwMode="auto">
            <a:xfrm>
              <a:off x="3273426" y="5653088"/>
              <a:ext cx="138113" cy="287338"/>
            </a:xfrm>
            <a:custGeom>
              <a:avLst/>
              <a:gdLst/>
              <a:ahLst/>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a:noFill/>
            </a:ln>
          </p:spPr>
        </p:sp>
        <p:sp>
          <p:nvSpPr>
            <p:cNvPr id="34" name="Freeform 21"/>
            <p:cNvSpPr/>
            <p:nvPr/>
          </p:nvSpPr>
          <p:spPr bwMode="auto">
            <a:xfrm>
              <a:off x="3143251" y="4656138"/>
              <a:ext cx="31750" cy="188913"/>
            </a:xfrm>
            <a:custGeom>
              <a:avLst/>
              <a:gdLst/>
              <a:ahLst/>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a:noFill/>
            </a:ln>
          </p:spPr>
        </p:sp>
        <p:sp>
          <p:nvSpPr>
            <p:cNvPr id="35" name="Freeform 22"/>
            <p:cNvSpPr/>
            <p:nvPr/>
          </p:nvSpPr>
          <p:spPr bwMode="auto">
            <a:xfrm>
              <a:off x="3211513" y="5410200"/>
              <a:ext cx="203200" cy="530225"/>
            </a:xfrm>
            <a:custGeom>
              <a:avLst/>
              <a:gdLst/>
              <a:ahLst/>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a:noFill/>
            </a:ln>
          </p:spPr>
        </p:sp>
      </p:grpSp>
      <p:grpSp>
        <p:nvGrpSpPr>
          <p:cNvPr id="10" name="Group 9"/>
          <p:cNvGrpSpPr/>
          <p:nvPr/>
        </p:nvGrpSpPr>
        <p:grpSpPr>
          <a:xfrm>
            <a:off x="27221" y="157"/>
            <a:ext cx="2356674" cy="6853096"/>
            <a:chOff x="6627813" y="195610"/>
            <a:chExt cx="1952625" cy="5678141"/>
          </a:xfrm>
        </p:grpSpPr>
        <p:sp>
          <p:nvSpPr>
            <p:cNvPr id="11" name="Freeform 27"/>
            <p:cNvSpPr/>
            <p:nvPr/>
          </p:nvSpPr>
          <p:spPr bwMode="auto">
            <a:xfrm>
              <a:off x="6627813" y="195610"/>
              <a:ext cx="409575" cy="3646488"/>
            </a:xfrm>
            <a:custGeom>
              <a:avLst/>
              <a:gdLst/>
              <a:ahLst/>
              <a:cxnLst/>
              <a:rect l="0" t="0" r="r" b="b"/>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a:noFill/>
            </a:ln>
          </p:spPr>
        </p:sp>
        <p:sp>
          <p:nvSpPr>
            <p:cNvPr id="12" name="Freeform 28"/>
            <p:cNvSpPr/>
            <p:nvPr/>
          </p:nvSpPr>
          <p:spPr bwMode="auto">
            <a:xfrm>
              <a:off x="7061201" y="3771900"/>
              <a:ext cx="350838" cy="1309688"/>
            </a:xfrm>
            <a:custGeom>
              <a:avLst/>
              <a:gdLst/>
              <a:ahLst/>
              <a:cxnLst/>
              <a:rect l="0" t="0" r="r" b="b"/>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a:noFill/>
            </a:ln>
          </p:spPr>
        </p:sp>
        <p:sp>
          <p:nvSpPr>
            <p:cNvPr id="13" name="Freeform 29"/>
            <p:cNvSpPr/>
            <p:nvPr/>
          </p:nvSpPr>
          <p:spPr bwMode="auto">
            <a:xfrm>
              <a:off x="7439026" y="5053013"/>
              <a:ext cx="357188" cy="820738"/>
            </a:xfrm>
            <a:custGeom>
              <a:avLst/>
              <a:gdLst/>
              <a:ahLst/>
              <a:cxnLst/>
              <a:rect l="0" t="0" r="r" b="b"/>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a:noFill/>
            </a:ln>
          </p:spPr>
        </p:sp>
        <p:sp>
          <p:nvSpPr>
            <p:cNvPr id="14" name="Freeform 30"/>
            <p:cNvSpPr/>
            <p:nvPr/>
          </p:nvSpPr>
          <p:spPr bwMode="auto">
            <a:xfrm>
              <a:off x="7037388" y="3811588"/>
              <a:ext cx="457200" cy="1852613"/>
            </a:xfrm>
            <a:custGeom>
              <a:avLst/>
              <a:gdLst/>
              <a:ahLst/>
              <a:cxnLst/>
              <a:rect l="0" t="0" r="r" b="b"/>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a:noFill/>
            </a:ln>
          </p:spPr>
        </p:sp>
        <p:sp>
          <p:nvSpPr>
            <p:cNvPr id="15" name="Freeform 31"/>
            <p:cNvSpPr/>
            <p:nvPr/>
          </p:nvSpPr>
          <p:spPr bwMode="auto">
            <a:xfrm>
              <a:off x="6992938" y="1263650"/>
              <a:ext cx="144463" cy="2508250"/>
            </a:xfrm>
            <a:custGeom>
              <a:avLst/>
              <a:gdLst/>
              <a:ahLst/>
              <a:cxnLst/>
              <a:rect l="0" t="0" r="r" b="b"/>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a:noFill/>
            </a:ln>
          </p:spPr>
        </p:sp>
        <p:sp>
          <p:nvSpPr>
            <p:cNvPr id="16" name="Freeform 32"/>
            <p:cNvSpPr/>
            <p:nvPr/>
          </p:nvSpPr>
          <p:spPr bwMode="auto">
            <a:xfrm>
              <a:off x="7526338" y="5640388"/>
              <a:ext cx="111125" cy="233363"/>
            </a:xfrm>
            <a:custGeom>
              <a:avLst/>
              <a:gdLst/>
              <a:ahLst/>
              <a:cxnLst/>
              <a:rect l="0" t="0" r="r" b="b"/>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a:noFill/>
            </a:ln>
          </p:spPr>
        </p:sp>
        <p:sp>
          <p:nvSpPr>
            <p:cNvPr id="17" name="Freeform 33"/>
            <p:cNvSpPr/>
            <p:nvPr/>
          </p:nvSpPr>
          <p:spPr bwMode="auto">
            <a:xfrm>
              <a:off x="7021513" y="3598863"/>
              <a:ext cx="68263" cy="423863"/>
            </a:xfrm>
            <a:custGeom>
              <a:avLst/>
              <a:gdLst/>
              <a:ahLst/>
              <a:cxnLst/>
              <a:rect l="0" t="0" r="r" b="b"/>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a:noFill/>
            </a:ln>
          </p:spPr>
        </p:sp>
        <p:sp>
          <p:nvSpPr>
            <p:cNvPr id="18" name="Freeform 34"/>
            <p:cNvSpPr/>
            <p:nvPr/>
          </p:nvSpPr>
          <p:spPr bwMode="auto">
            <a:xfrm>
              <a:off x="7412038" y="2801938"/>
              <a:ext cx="1168400" cy="2251075"/>
            </a:xfrm>
            <a:custGeom>
              <a:avLst/>
              <a:gdLst/>
              <a:ahLst/>
              <a:cxnLst/>
              <a:rect l="0" t="0" r="r" b="b"/>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a:noFill/>
            </a:ln>
          </p:spPr>
        </p:sp>
        <p:sp>
          <p:nvSpPr>
            <p:cNvPr id="19" name="Freeform 35"/>
            <p:cNvSpPr/>
            <p:nvPr/>
          </p:nvSpPr>
          <p:spPr bwMode="auto">
            <a:xfrm>
              <a:off x="7494588" y="5664200"/>
              <a:ext cx="100013" cy="209550"/>
            </a:xfrm>
            <a:custGeom>
              <a:avLst/>
              <a:gdLst/>
              <a:ahLst/>
              <a:cxnLst/>
              <a:rect l="0" t="0" r="r" b="b"/>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a:noFill/>
            </a:ln>
          </p:spPr>
        </p:sp>
        <p:sp>
          <p:nvSpPr>
            <p:cNvPr id="20" name="Freeform 36"/>
            <p:cNvSpPr/>
            <p:nvPr/>
          </p:nvSpPr>
          <p:spPr bwMode="auto">
            <a:xfrm>
              <a:off x="7412038" y="5081588"/>
              <a:ext cx="114300" cy="558800"/>
            </a:xfrm>
            <a:custGeom>
              <a:avLst/>
              <a:gdLst/>
              <a:ahLst/>
              <a:cxnLst/>
              <a:rect l="0" t="0" r="r" b="b"/>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a:noFill/>
            </a:ln>
          </p:spPr>
        </p:sp>
        <p:sp>
          <p:nvSpPr>
            <p:cNvPr id="21" name="Freeform 37"/>
            <p:cNvSpPr/>
            <p:nvPr/>
          </p:nvSpPr>
          <p:spPr bwMode="auto">
            <a:xfrm>
              <a:off x="7412038" y="4978400"/>
              <a:ext cx="31750" cy="188913"/>
            </a:xfrm>
            <a:custGeom>
              <a:avLst/>
              <a:gdLst/>
              <a:ahLst/>
              <a:cxnLst/>
              <a:rect l="0" t="0" r="r" b="b"/>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a:noFill/>
            </a:ln>
          </p:spPr>
        </p:sp>
        <p:sp>
          <p:nvSpPr>
            <p:cNvPr id="22" name="Freeform 38"/>
            <p:cNvSpPr/>
            <p:nvPr/>
          </p:nvSpPr>
          <p:spPr bwMode="auto">
            <a:xfrm>
              <a:off x="7439026" y="5434013"/>
              <a:ext cx="174625" cy="439738"/>
            </a:xfrm>
            <a:custGeom>
              <a:avLst/>
              <a:gdLst/>
              <a:ahLst/>
              <a:cxnLst/>
              <a:rect l="0" t="0" r="r" b="b"/>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a:noFill/>
            </a:ln>
          </p:spPr>
        </p:sp>
      </p:grpSp>
      <p:sp>
        <p:nvSpPr>
          <p:cNvPr id="7" name="Rectangle 6"/>
          <p:cNvSpPr/>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2592924" y="624110"/>
            <a:ext cx="8911687" cy="1280890"/>
          </a:xfrm>
          <a:prstGeom prst="rect">
            <a:avLst/>
          </a:prstGeom>
        </p:spPr>
        <p:txBody>
          <a:bodyPr vert="horz" lIns="91440" tIns="45720" rIns="91440" bIns="45720" rtlCol="0" anchor="t">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2589212" y="2133600"/>
            <a:ext cx="8915400" cy="38862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10361612" y="6130437"/>
            <a:ext cx="1146283" cy="370396"/>
          </a:xfrm>
          <a:prstGeom prst="rect">
            <a:avLst/>
          </a:prstGeom>
        </p:spPr>
        <p:txBody>
          <a:bodyPr vert="horz" lIns="91440" tIns="45720" rIns="91440" bIns="45720" rtlCol="0" anchor="ctr"/>
          <a:lstStyle>
            <a:lvl1pPr algn="r">
              <a:defRPr sz="900">
                <a:solidFill>
                  <a:schemeClr val="tx1">
                    <a:tint val="75000"/>
                  </a:schemeClr>
                </a:solidFill>
              </a:defRPr>
            </a:lvl1pPr>
          </a:lstStyle>
          <a:p>
            <a:fld id="{440A6F40-7F1C-45B7-997E-7D62C23D8709}" type="datetimeFigureOut">
              <a:rPr lang="en-IN" smtClean="0"/>
              <a:t>14-07-2025</a:t>
            </a:fld>
            <a:endParaRPr lang="en-IN"/>
          </a:p>
        </p:txBody>
      </p:sp>
      <p:sp>
        <p:nvSpPr>
          <p:cNvPr id="5" name="Footer Placeholder 4"/>
          <p:cNvSpPr>
            <a:spLocks noGrp="1"/>
          </p:cNvSpPr>
          <p:nvPr>
            <p:ph type="ftr" sz="quarter" idx="3"/>
          </p:nvPr>
        </p:nvSpPr>
        <p:spPr>
          <a:xfrm>
            <a:off x="2589212" y="6135808"/>
            <a:ext cx="7619999"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IN"/>
          </a:p>
        </p:txBody>
      </p:sp>
      <p:sp>
        <p:nvSpPr>
          <p:cNvPr id="6" name="Slide Number Placeholder 5"/>
          <p:cNvSpPr>
            <a:spLocks noGrp="1"/>
          </p:cNvSpPr>
          <p:nvPr>
            <p:ph type="sldNum" sz="quarter" idx="4"/>
          </p:nvPr>
        </p:nvSpPr>
        <p:spPr bwMode="gray">
          <a:xfrm>
            <a:off x="531812" y="787782"/>
            <a:ext cx="779767" cy="365125"/>
          </a:xfrm>
          <a:prstGeom prst="rect">
            <a:avLst/>
          </a:prstGeom>
        </p:spPr>
        <p:txBody>
          <a:bodyPr vert="horz" lIns="91440" tIns="45720" rIns="91440" bIns="45720" rtlCol="0" anchor="ctr"/>
          <a:lstStyle>
            <a:lvl1pPr algn="r">
              <a:defRPr sz="2000">
                <a:solidFill>
                  <a:srgbClr val="FEFFFF"/>
                </a:solidFill>
              </a:defRPr>
            </a:lvl1pPr>
          </a:lstStyle>
          <a:p>
            <a:fld id="{56992BB3-3E04-4CDE-B191-C53A10D46E66}" type="slidenum">
              <a:rPr lang="en-IN" smtClean="0"/>
              <a:t>‹#›</a:t>
            </a:fld>
            <a:endParaRPr lang="en-IN"/>
          </a:p>
        </p:txBody>
      </p:sp>
    </p:spTree>
    <p:extLst>
      <p:ext uri="{BB962C8B-B14F-4D97-AF65-F5344CB8AC3E}">
        <p14:creationId xmlns:p14="http://schemas.microsoft.com/office/powerpoint/2010/main" val="967790846"/>
      </p:ext>
    </p:extLst>
  </p:cSld>
  <p:clrMap bg1="lt1" tx1="dk1" bg2="lt2" tx2="dk2" accent1="accent1" accent2="accent2" accent3="accent3" accent4="accent4" accent5="accent5" accent6="accent6" hlink="hlink" folHlink="folHlink"/>
  <p:sldLayoutIdLst>
    <p:sldLayoutId id="2147483923" r:id="rId1"/>
    <p:sldLayoutId id="2147483924" r:id="rId2"/>
    <p:sldLayoutId id="2147483925" r:id="rId3"/>
    <p:sldLayoutId id="2147483926" r:id="rId4"/>
    <p:sldLayoutId id="2147483927" r:id="rId5"/>
    <p:sldLayoutId id="2147483928" r:id="rId6"/>
    <p:sldLayoutId id="2147483929" r:id="rId7"/>
    <p:sldLayoutId id="2147483930" r:id="rId8"/>
    <p:sldLayoutId id="2147483931" r:id="rId9"/>
    <p:sldLayoutId id="2147483932" r:id="rId10"/>
    <p:sldLayoutId id="2147483933" r:id="rId11"/>
    <p:sldLayoutId id="2147483934" r:id="rId12"/>
    <p:sldLayoutId id="2147483935" r:id="rId13"/>
    <p:sldLayoutId id="2147483936" r:id="rId14"/>
    <p:sldLayoutId id="2147483937" r:id="rId15"/>
    <p:sldLayoutId id="2147483938" r:id="rId16"/>
  </p:sldLayoutIdLst>
  <p:txStyles>
    <p:titleStyle>
      <a:lvl1pPr algn="l" defTabSz="457200" rtl="0" eaLnBrk="1" latinLnBrk="0" hangingPunct="1">
        <a:spcBef>
          <a:spcPct val="0"/>
        </a:spcBef>
        <a:buNone/>
        <a:defRPr sz="3600" kern="1200">
          <a:solidFill>
            <a:schemeClr val="accent2">
              <a:lumMod val="7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hyperlink" Target="https://www.geeksforgeeks.org/model-based-reinforcement-learning-mbrl-in-ai/" TargetMode="External"/><Relationship Id="rId2" Type="http://schemas.openxmlformats.org/officeDocument/2006/relationships/hyperlink" Target="https://www.geeksforgeeks.org/what-is-reinforcement-learning/" TargetMode="External"/><Relationship Id="rId1" Type="http://schemas.openxmlformats.org/officeDocument/2006/relationships/slideLayout" Target="../slideLayouts/slideLayout2.xml"/><Relationship Id="rId4" Type="http://schemas.openxmlformats.org/officeDocument/2006/relationships/hyperlink" Target="https://www.geeksforgeeks.org/ml-reinforcement-learning-algorithm-python-implementation-using-q-learning/" TargetMode="Externa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097280" y="758952"/>
            <a:ext cx="10058400" cy="1061535"/>
          </a:xfrm>
        </p:spPr>
        <p:txBody>
          <a:bodyPr>
            <a:normAutofit/>
          </a:bodyPr>
          <a:lstStyle/>
          <a:p>
            <a:r>
              <a:rPr lang="en-IN" dirty="0" smtClean="0"/>
              <a:t>MACHINE LEARNING</a:t>
            </a:r>
            <a:endParaRPr lang="en-IN" dirty="0"/>
          </a:p>
        </p:txBody>
      </p:sp>
      <p:sp>
        <p:nvSpPr>
          <p:cNvPr id="3" name="Subtitle 2"/>
          <p:cNvSpPr>
            <a:spLocks noGrp="1"/>
          </p:cNvSpPr>
          <p:nvPr>
            <p:ph type="subTitle" idx="1"/>
          </p:nvPr>
        </p:nvSpPr>
        <p:spPr>
          <a:xfrm>
            <a:off x="1737359" y="3034146"/>
            <a:ext cx="9609514" cy="1496290"/>
          </a:xfrm>
        </p:spPr>
        <p:txBody>
          <a:bodyPr/>
          <a:lstStyle/>
          <a:p>
            <a:r>
              <a:rPr lang="en-IN" dirty="0" smtClean="0"/>
              <a:t>NOTES</a:t>
            </a:r>
            <a:endParaRPr lang="en-IN" dirty="0"/>
          </a:p>
        </p:txBody>
      </p:sp>
    </p:spTree>
    <p:extLst>
      <p:ext uri="{BB962C8B-B14F-4D97-AF65-F5344CB8AC3E}">
        <p14:creationId xmlns:p14="http://schemas.microsoft.com/office/powerpoint/2010/main" val="228727216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SYLLABUS</a:t>
            </a:r>
            <a:endParaRPr lang="en-IN" dirty="0"/>
          </a:p>
        </p:txBody>
      </p:sp>
      <p:sp>
        <p:nvSpPr>
          <p:cNvPr id="3" name="Content Placeholder 2"/>
          <p:cNvSpPr>
            <a:spLocks noGrp="1"/>
          </p:cNvSpPr>
          <p:nvPr>
            <p:ph idx="1"/>
          </p:nvPr>
        </p:nvSpPr>
        <p:spPr/>
        <p:txBody>
          <a:bodyPr/>
          <a:lstStyle/>
          <a:p>
            <a:pPr marL="0" indent="0">
              <a:buNone/>
            </a:pPr>
            <a:r>
              <a:rPr lang="en-IN" dirty="0" smtClean="0"/>
              <a:t>INTRODUCTION:MACHINE LEARNING</a:t>
            </a:r>
            <a:endParaRPr lang="en-IN" dirty="0"/>
          </a:p>
        </p:txBody>
      </p:sp>
    </p:spTree>
    <p:extLst>
      <p:ext uri="{BB962C8B-B14F-4D97-AF65-F5344CB8AC3E}">
        <p14:creationId xmlns:p14="http://schemas.microsoft.com/office/powerpoint/2010/main" val="155154865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92925" y="624111"/>
            <a:ext cx="8911687" cy="631112"/>
          </a:xfrm>
        </p:spPr>
        <p:txBody>
          <a:bodyPr>
            <a:normAutofit fontScale="90000"/>
          </a:bodyPr>
          <a:lstStyle/>
          <a:p>
            <a:r>
              <a:rPr lang="en-IN" dirty="0"/>
              <a:t>Machine Learning (ML)</a:t>
            </a:r>
            <a:br>
              <a:rPr lang="en-IN" dirty="0"/>
            </a:br>
            <a:endParaRPr lang="en-IN" dirty="0"/>
          </a:p>
        </p:txBody>
      </p:sp>
      <p:sp>
        <p:nvSpPr>
          <p:cNvPr id="3" name="Content Placeholder 2"/>
          <p:cNvSpPr>
            <a:spLocks noGrp="1"/>
          </p:cNvSpPr>
          <p:nvPr>
            <p:ph idx="1"/>
          </p:nvPr>
        </p:nvSpPr>
        <p:spPr>
          <a:xfrm>
            <a:off x="2589212" y="2133600"/>
            <a:ext cx="8915400" cy="1898073"/>
          </a:xfrm>
        </p:spPr>
        <p:txBody>
          <a:bodyPr>
            <a:normAutofit/>
          </a:bodyPr>
          <a:lstStyle/>
          <a:p>
            <a:r>
              <a:rPr lang="en-US" dirty="0" smtClean="0"/>
              <a:t>Machine </a:t>
            </a:r>
            <a:r>
              <a:rPr lang="en-US" dirty="0"/>
              <a:t>Learning (ML) is a subfield of artificial intelligence (AI) that focuses on developing algorithms that enable computers to learn from data and make predictions or decisions without being explicitly programmed for each task. This technology allows machines to improve their performance over time by identifying patterns and relationships within datasets.</a:t>
            </a:r>
            <a:endParaRPr lang="en-IN" dirty="0"/>
          </a:p>
        </p:txBody>
      </p:sp>
    </p:spTree>
    <p:extLst>
      <p:ext uri="{BB962C8B-B14F-4D97-AF65-F5344CB8AC3E}">
        <p14:creationId xmlns:p14="http://schemas.microsoft.com/office/powerpoint/2010/main" val="179622683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92925" y="624110"/>
            <a:ext cx="8911687" cy="622799"/>
          </a:xfrm>
        </p:spPr>
        <p:txBody>
          <a:bodyPr>
            <a:normAutofit fontScale="90000"/>
          </a:bodyPr>
          <a:lstStyle/>
          <a:p>
            <a:r>
              <a:rPr lang="en-IN" dirty="0"/>
              <a:t>How Machine Learning Works</a:t>
            </a:r>
            <a:br>
              <a:rPr lang="en-IN" dirty="0"/>
            </a:br>
            <a:endParaRPr lang="en-IN" dirty="0"/>
          </a:p>
        </p:txBody>
      </p:sp>
      <p:sp>
        <p:nvSpPr>
          <p:cNvPr id="3" name="Content Placeholder 2"/>
          <p:cNvSpPr>
            <a:spLocks noGrp="1"/>
          </p:cNvSpPr>
          <p:nvPr>
            <p:ph idx="1"/>
          </p:nvPr>
        </p:nvSpPr>
        <p:spPr>
          <a:xfrm>
            <a:off x="2589212" y="1579418"/>
            <a:ext cx="8915400" cy="4846320"/>
          </a:xfrm>
        </p:spPr>
        <p:txBody>
          <a:bodyPr>
            <a:normAutofit fontScale="92500" lnSpcReduction="10000"/>
          </a:bodyPr>
          <a:lstStyle/>
          <a:p>
            <a:r>
              <a:rPr lang="en-US" dirty="0" smtClean="0"/>
              <a:t>Machine </a:t>
            </a:r>
            <a:r>
              <a:rPr lang="en-US" dirty="0"/>
              <a:t>learning algorithms operate by learning from data through a series of steps:</a:t>
            </a:r>
          </a:p>
          <a:p>
            <a:r>
              <a:rPr lang="en-US" dirty="0" smtClean="0"/>
              <a:t>Data </a:t>
            </a:r>
            <a:r>
              <a:rPr lang="en-US" dirty="0"/>
              <a:t>Collection: Relevant data is gathered, which could include images, text, numerical data, etc.</a:t>
            </a:r>
          </a:p>
          <a:p>
            <a:r>
              <a:rPr lang="en-US" dirty="0" smtClean="0"/>
              <a:t>Data </a:t>
            </a:r>
            <a:r>
              <a:rPr lang="en-US" dirty="0"/>
              <a:t>Preprocessing: The data is cleaned, transformed, and split into training and test sets.</a:t>
            </a:r>
          </a:p>
          <a:p>
            <a:r>
              <a:rPr lang="en-US" dirty="0" smtClean="0"/>
              <a:t>Choosing </a:t>
            </a:r>
            <a:r>
              <a:rPr lang="en-US" dirty="0"/>
              <a:t>a Model: A suitable machine learning model is selected based on the task, such as classification, regression, or clustering.</a:t>
            </a:r>
          </a:p>
          <a:p>
            <a:r>
              <a:rPr lang="en-US" dirty="0" smtClean="0"/>
              <a:t>Training </a:t>
            </a:r>
            <a:r>
              <a:rPr lang="en-US" dirty="0"/>
              <a:t>the Model: The model is trained using the training data, where it learns patterns and relationships.</a:t>
            </a:r>
          </a:p>
          <a:p>
            <a:r>
              <a:rPr lang="en-US" dirty="0" smtClean="0"/>
              <a:t>Evaluating </a:t>
            </a:r>
            <a:r>
              <a:rPr lang="en-US" dirty="0"/>
              <a:t>the Model: The model's performance is assessed using the test data with metrics like accuracy, precision, and recall.</a:t>
            </a:r>
          </a:p>
          <a:p>
            <a:r>
              <a:rPr lang="en-US" dirty="0" smtClean="0"/>
              <a:t>Fine-tuning</a:t>
            </a:r>
            <a:r>
              <a:rPr lang="en-US" dirty="0"/>
              <a:t>: </a:t>
            </a:r>
            <a:r>
              <a:rPr lang="en-US" dirty="0" smtClean="0"/>
              <a:t>Hyper parameters </a:t>
            </a:r>
            <a:r>
              <a:rPr lang="en-US" dirty="0"/>
              <a:t>are adjusted to improve the model's performance.</a:t>
            </a:r>
          </a:p>
          <a:p>
            <a:r>
              <a:rPr lang="en-US" dirty="0" smtClean="0"/>
              <a:t>Prediction </a:t>
            </a:r>
            <a:r>
              <a:rPr lang="en-US" dirty="0"/>
              <a:t>or Inference: The trained model is used to make predictions on new data.</a:t>
            </a:r>
            <a:endParaRPr lang="en-IN" dirty="0"/>
          </a:p>
        </p:txBody>
      </p:sp>
    </p:spTree>
    <p:extLst>
      <p:ext uri="{BB962C8B-B14F-4D97-AF65-F5344CB8AC3E}">
        <p14:creationId xmlns:p14="http://schemas.microsoft.com/office/powerpoint/2010/main" val="276606789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92925" y="624110"/>
            <a:ext cx="8911687" cy="506421"/>
          </a:xfrm>
        </p:spPr>
        <p:txBody>
          <a:bodyPr>
            <a:normAutofit fontScale="90000"/>
          </a:bodyPr>
          <a:lstStyle/>
          <a:p>
            <a:r>
              <a:rPr lang="en-IN" dirty="0"/>
              <a:t>Types of Machine Learning</a:t>
            </a:r>
            <a:br>
              <a:rPr lang="en-IN" dirty="0"/>
            </a:br>
            <a:r>
              <a:rPr lang="en-IN" dirty="0"/>
              <a:t/>
            </a:r>
            <a:br>
              <a:rPr lang="en-IN" dirty="0"/>
            </a:br>
            <a:endParaRPr lang="en-IN" dirty="0"/>
          </a:p>
        </p:txBody>
      </p:sp>
      <p:sp>
        <p:nvSpPr>
          <p:cNvPr id="3" name="Content Placeholder 2"/>
          <p:cNvSpPr>
            <a:spLocks noGrp="1"/>
          </p:cNvSpPr>
          <p:nvPr>
            <p:ph idx="1"/>
          </p:nvPr>
        </p:nvSpPr>
        <p:spPr/>
        <p:txBody>
          <a:bodyPr>
            <a:normAutofit/>
          </a:bodyPr>
          <a:lstStyle/>
          <a:p>
            <a:r>
              <a:rPr lang="en-US" dirty="0"/>
              <a:t>Machine learning can be categorized into three main types:</a:t>
            </a:r>
          </a:p>
          <a:p>
            <a:r>
              <a:rPr lang="en-US" dirty="0" smtClean="0">
                <a:solidFill>
                  <a:srgbClr val="FF0000"/>
                </a:solidFill>
              </a:rPr>
              <a:t>Supervised </a:t>
            </a:r>
            <a:r>
              <a:rPr lang="en-US" dirty="0">
                <a:solidFill>
                  <a:srgbClr val="FF0000"/>
                </a:solidFill>
              </a:rPr>
              <a:t>Learning</a:t>
            </a:r>
            <a:r>
              <a:rPr lang="en-US" dirty="0"/>
              <a:t>: The algorithm is trained on labeled data, learning to map input features to output labels. Examples include regression and classification tasks</a:t>
            </a:r>
          </a:p>
          <a:p>
            <a:r>
              <a:rPr lang="en-US" dirty="0" smtClean="0">
                <a:solidFill>
                  <a:srgbClr val="FF0000"/>
                </a:solidFill>
              </a:rPr>
              <a:t>Unsupervised </a:t>
            </a:r>
            <a:r>
              <a:rPr lang="en-US" dirty="0">
                <a:solidFill>
                  <a:srgbClr val="FF0000"/>
                </a:solidFill>
              </a:rPr>
              <a:t>Learning</a:t>
            </a:r>
            <a:r>
              <a:rPr lang="en-US" dirty="0"/>
              <a:t>: The algorithm learns patterns from unlabeled data, identifying structures like clusters or reducing dimensionality</a:t>
            </a:r>
          </a:p>
          <a:p>
            <a:r>
              <a:rPr lang="en-US" dirty="0" smtClean="0">
                <a:solidFill>
                  <a:srgbClr val="FF0000"/>
                </a:solidFill>
              </a:rPr>
              <a:t>Reinforcement </a:t>
            </a:r>
            <a:r>
              <a:rPr lang="en-US" dirty="0">
                <a:solidFill>
                  <a:srgbClr val="FF0000"/>
                </a:solidFill>
              </a:rPr>
              <a:t>Learning</a:t>
            </a:r>
            <a:r>
              <a:rPr lang="en-US" dirty="0"/>
              <a:t>: The algorithm learns by interacting with an environment, receiving rewards or penalties based on its actions to optimize a policy</a:t>
            </a:r>
            <a:endParaRPr lang="en-IN" dirty="0"/>
          </a:p>
        </p:txBody>
      </p:sp>
    </p:spTree>
    <p:extLst>
      <p:ext uri="{BB962C8B-B14F-4D97-AF65-F5344CB8AC3E}">
        <p14:creationId xmlns:p14="http://schemas.microsoft.com/office/powerpoint/2010/main" val="97299851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92925" y="624110"/>
            <a:ext cx="8911687" cy="705926"/>
          </a:xfrm>
        </p:spPr>
        <p:txBody>
          <a:bodyPr/>
          <a:lstStyle/>
          <a:p>
            <a:r>
              <a:rPr lang="en-IN" dirty="0"/>
              <a:t>Applications of Machine Learning</a:t>
            </a:r>
          </a:p>
        </p:txBody>
      </p:sp>
      <p:sp>
        <p:nvSpPr>
          <p:cNvPr id="3" name="Content Placeholder 2"/>
          <p:cNvSpPr>
            <a:spLocks noGrp="1"/>
          </p:cNvSpPr>
          <p:nvPr>
            <p:ph idx="1"/>
          </p:nvPr>
        </p:nvSpPr>
        <p:spPr>
          <a:xfrm>
            <a:off x="1704109" y="1529543"/>
            <a:ext cx="9800503" cy="4887882"/>
          </a:xfrm>
        </p:spPr>
        <p:txBody>
          <a:bodyPr>
            <a:normAutofit/>
          </a:bodyPr>
          <a:lstStyle/>
          <a:p>
            <a:r>
              <a:rPr lang="en-US" dirty="0"/>
              <a:t>Machine learning has a wide range of applications across various industries:</a:t>
            </a:r>
          </a:p>
          <a:p>
            <a:r>
              <a:rPr lang="en-US" dirty="0" smtClean="0"/>
              <a:t>Recommendation </a:t>
            </a:r>
            <a:r>
              <a:rPr lang="en-US" dirty="0"/>
              <a:t>Systems: Suggesting products, movies, or music based on user preferences</a:t>
            </a:r>
          </a:p>
          <a:p>
            <a:r>
              <a:rPr lang="en-US" dirty="0" smtClean="0"/>
              <a:t>Fraud </a:t>
            </a:r>
            <a:r>
              <a:rPr lang="en-US" dirty="0"/>
              <a:t>Detection: Identifying suspicious transactions in financial systems</a:t>
            </a:r>
          </a:p>
          <a:p>
            <a:r>
              <a:rPr lang="en-US" dirty="0" smtClean="0"/>
              <a:t>Autonomous </a:t>
            </a:r>
            <a:r>
              <a:rPr lang="en-US" dirty="0"/>
              <a:t>Vehicles: Enhancing the adaptability and safety of self-driving cars</a:t>
            </a:r>
          </a:p>
          <a:p>
            <a:r>
              <a:rPr lang="en-US" dirty="0" smtClean="0"/>
              <a:t>Healthcare</a:t>
            </a:r>
            <a:r>
              <a:rPr lang="en-US" dirty="0"/>
              <a:t>: Improving diagnostics and treatment plans through image recognition and predictive modeling</a:t>
            </a:r>
          </a:p>
          <a:p>
            <a:r>
              <a:rPr lang="en-US" dirty="0" smtClean="0"/>
              <a:t>Natural </a:t>
            </a:r>
            <a:r>
              <a:rPr lang="en-US" dirty="0"/>
              <a:t>Language Processing: Enabling voice recognition, chatbots, and language translation</a:t>
            </a:r>
          </a:p>
          <a:p>
            <a:endParaRPr lang="en-IN" dirty="0"/>
          </a:p>
        </p:txBody>
      </p:sp>
    </p:spTree>
    <p:extLst>
      <p:ext uri="{BB962C8B-B14F-4D97-AF65-F5344CB8AC3E}">
        <p14:creationId xmlns:p14="http://schemas.microsoft.com/office/powerpoint/2010/main" val="5878589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92925" y="624110"/>
            <a:ext cx="8911687" cy="722552"/>
          </a:xfrm>
        </p:spPr>
        <p:txBody>
          <a:bodyPr/>
          <a:lstStyle/>
          <a:p>
            <a:r>
              <a:rPr lang="en-IN" dirty="0"/>
              <a:t>Benefits and Challenges</a:t>
            </a:r>
          </a:p>
        </p:txBody>
      </p:sp>
      <p:pic>
        <p:nvPicPr>
          <p:cNvPr id="4" name="Content Placeholder 3"/>
          <p:cNvPicPr>
            <a:picLocks noGrp="1" noChangeAspect="1"/>
          </p:cNvPicPr>
          <p:nvPr>
            <p:ph idx="1"/>
          </p:nvPr>
        </p:nvPicPr>
        <p:blipFill>
          <a:blip r:embed="rId2"/>
          <a:stretch>
            <a:fillRect/>
          </a:stretch>
        </p:blipFill>
        <p:spPr>
          <a:xfrm>
            <a:off x="2468880" y="1637607"/>
            <a:ext cx="8356283" cy="4821382"/>
          </a:xfrm>
          <a:prstGeom prst="rect">
            <a:avLst/>
          </a:prstGeom>
        </p:spPr>
      </p:pic>
    </p:spTree>
    <p:extLst>
      <p:ext uri="{BB962C8B-B14F-4D97-AF65-F5344CB8AC3E}">
        <p14:creationId xmlns:p14="http://schemas.microsoft.com/office/powerpoint/2010/main" val="119046316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92925" y="624110"/>
            <a:ext cx="8911687" cy="597861"/>
          </a:xfrm>
        </p:spPr>
        <p:txBody>
          <a:bodyPr>
            <a:normAutofit fontScale="90000"/>
          </a:bodyPr>
          <a:lstStyle/>
          <a:p>
            <a:r>
              <a:rPr lang="en-IN" dirty="0" smtClean="0"/>
              <a:t>ML</a:t>
            </a:r>
            <a:endParaRPr lang="en-IN" dirty="0"/>
          </a:p>
        </p:txBody>
      </p:sp>
      <p:sp>
        <p:nvSpPr>
          <p:cNvPr id="3" name="Content Placeholder 2"/>
          <p:cNvSpPr>
            <a:spLocks noGrp="1"/>
          </p:cNvSpPr>
          <p:nvPr>
            <p:ph idx="1"/>
          </p:nvPr>
        </p:nvSpPr>
        <p:spPr>
          <a:xfrm>
            <a:off x="1363287" y="1221970"/>
            <a:ext cx="10141325" cy="4689251"/>
          </a:xfrm>
        </p:spPr>
        <p:txBody>
          <a:bodyPr>
            <a:normAutofit fontScale="85000" lnSpcReduction="10000"/>
          </a:bodyPr>
          <a:lstStyle/>
          <a:p>
            <a:r>
              <a:rPr lang="en-US" dirty="0"/>
              <a:t>Machine learning is important because it allows computers to learn from data and improve their performance on specific tasks without being explicitly programmed. This ability to learn from data and adapt to new situations makes machine learning particularly useful for tasks that involve large amounts of data, complex decision-making, and dynamic environments.</a:t>
            </a:r>
          </a:p>
          <a:p>
            <a:endParaRPr lang="en-US" dirty="0"/>
          </a:p>
          <a:p>
            <a:r>
              <a:rPr lang="en-US" dirty="0"/>
              <a:t>Here are some specific areas where machine learning is being used:</a:t>
            </a:r>
          </a:p>
          <a:p>
            <a:endParaRPr lang="en-US" dirty="0"/>
          </a:p>
          <a:p>
            <a:r>
              <a:rPr lang="en-US" dirty="0"/>
              <a:t>Predictive modeling: Machine learning can be used to build predictive models that can help businesses make better decisions. For example, machine learning can be used to predict which customers are most likely to buy a particular product, or which patients are most likely to develop a certain disease.</a:t>
            </a:r>
          </a:p>
          <a:p>
            <a:r>
              <a:rPr lang="en-US" dirty="0"/>
              <a:t>Natural language processing: Machine learning is used to build systems that can understand and interpret human language. This is important for applications such as voice recognition, chatbots, and language translation.</a:t>
            </a:r>
          </a:p>
          <a:p>
            <a:r>
              <a:rPr lang="en-US" dirty="0"/>
              <a:t>Computer vision: Machine learning is used to build systems that can recognize and interpret images and videos. This is important for applications such as self-driving cars, surveillance systems, and medical imaging.</a:t>
            </a:r>
          </a:p>
          <a:p>
            <a:r>
              <a:rPr lang="en-US" dirty="0"/>
              <a:t>Fraud detection: Machine learning can be used to detect fraudulent behavior in financial transactions, online advertising, and other areas.</a:t>
            </a:r>
            <a:endParaRPr lang="en-IN" dirty="0"/>
          </a:p>
        </p:txBody>
      </p:sp>
    </p:spTree>
    <p:extLst>
      <p:ext uri="{BB962C8B-B14F-4D97-AF65-F5344CB8AC3E}">
        <p14:creationId xmlns:p14="http://schemas.microsoft.com/office/powerpoint/2010/main" val="396288159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28553" y="624110"/>
            <a:ext cx="9576059" cy="1509490"/>
          </a:xfrm>
        </p:spPr>
        <p:txBody>
          <a:bodyPr>
            <a:normAutofit fontScale="90000"/>
          </a:bodyPr>
          <a:lstStyle/>
          <a:p>
            <a:r>
              <a:rPr lang="en-US" dirty="0"/>
              <a:t>Difference between Machine Learning, Traditional Programming and Artificial Intelligence</a:t>
            </a:r>
            <a:endParaRPr lang="en-IN" dirty="0"/>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2328183610"/>
              </p:ext>
            </p:extLst>
          </p:nvPr>
        </p:nvGraphicFramePr>
        <p:xfrm>
          <a:off x="1313412" y="2133601"/>
          <a:ext cx="9443256" cy="4533206"/>
        </p:xfrm>
        <a:graphic>
          <a:graphicData uri="http://schemas.openxmlformats.org/drawingml/2006/table">
            <a:tbl>
              <a:tblPr/>
              <a:tblGrid>
                <a:gridCol w="3147752"/>
                <a:gridCol w="3147752"/>
                <a:gridCol w="3147752"/>
              </a:tblGrid>
              <a:tr h="343126">
                <a:tc>
                  <a:txBody>
                    <a:bodyPr/>
                    <a:lstStyle/>
                    <a:p>
                      <a:pPr algn="ctr" fontAlgn="base"/>
                      <a:r>
                        <a:rPr lang="en-IN" sz="1000" b="1" dirty="0">
                          <a:effectLst/>
                        </a:rPr>
                        <a:t>Machine Learning</a:t>
                      </a:r>
                    </a:p>
                  </a:txBody>
                  <a:tcPr marL="26872" marR="26872" marT="67181" marB="67181"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9F9F9"/>
                    </a:solidFill>
                  </a:tcPr>
                </a:tc>
                <a:tc>
                  <a:txBody>
                    <a:bodyPr/>
                    <a:lstStyle/>
                    <a:p>
                      <a:pPr algn="ctr" fontAlgn="base"/>
                      <a:r>
                        <a:rPr lang="en-IN" sz="1000" b="1">
                          <a:effectLst/>
                        </a:rPr>
                        <a:t>Traditional Programming</a:t>
                      </a:r>
                    </a:p>
                  </a:txBody>
                  <a:tcPr marL="67181" marR="67181" marT="67181" marB="67181"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9F9F9"/>
                    </a:solidFill>
                  </a:tcPr>
                </a:tc>
                <a:tc>
                  <a:txBody>
                    <a:bodyPr/>
                    <a:lstStyle/>
                    <a:p>
                      <a:pPr algn="ctr" fontAlgn="base"/>
                      <a:r>
                        <a:rPr lang="en-IN" sz="1000" b="1">
                          <a:effectLst/>
                        </a:rPr>
                        <a:t>Artificial Intelligence</a:t>
                      </a:r>
                    </a:p>
                  </a:txBody>
                  <a:tcPr marL="67181" marR="67181" marT="67181" marB="67181"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9F9F9"/>
                    </a:solidFill>
                  </a:tcPr>
                </a:tc>
              </a:tr>
              <a:tr h="717436">
                <a:tc>
                  <a:txBody>
                    <a:bodyPr/>
                    <a:lstStyle/>
                    <a:p>
                      <a:pPr algn="ctr" fontAlgn="ctr"/>
                      <a:r>
                        <a:rPr lang="en-US" sz="900" b="0">
                          <a:effectLst/>
                        </a:rPr>
                        <a:t>A subset of AI focusing on creating algorithms that learn from data and make predictions.</a:t>
                      </a:r>
                    </a:p>
                  </a:txBody>
                  <a:tcPr marL="67181" marR="67181" marT="94053" marB="94053"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tc>
                  <a:txBody>
                    <a:bodyPr/>
                    <a:lstStyle/>
                    <a:p>
                      <a:pPr algn="ctr" fontAlgn="ctr"/>
                      <a:r>
                        <a:rPr lang="en-US" sz="900" b="0">
                          <a:effectLst/>
                        </a:rPr>
                        <a:t>Writing rule-based, deterministic code based on specific problem statements.</a:t>
                      </a:r>
                    </a:p>
                  </a:txBody>
                  <a:tcPr marL="67181" marR="67181" marT="94053" marB="94053"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tc>
                  <a:txBody>
                    <a:bodyPr/>
                    <a:lstStyle/>
                    <a:p>
                      <a:pPr algn="ctr" fontAlgn="ctr"/>
                      <a:r>
                        <a:rPr lang="en-US" sz="900" b="0">
                          <a:effectLst/>
                        </a:rPr>
                        <a:t>Technology that enables machines to perform tasks that typically require human intelligence.</a:t>
                      </a:r>
                    </a:p>
                  </a:txBody>
                  <a:tcPr marL="67181" marR="67181" marT="94053" marB="94053"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tr>
              <a:tr h="868161">
                <a:tc>
                  <a:txBody>
                    <a:bodyPr/>
                    <a:lstStyle/>
                    <a:p>
                      <a:pPr algn="ctr" fontAlgn="ctr"/>
                      <a:r>
                        <a:rPr lang="en-US" sz="900" b="0">
                          <a:effectLst/>
                        </a:rPr>
                        <a:t>Data-driven, learns from historical data to predict future outcomes.</a:t>
                      </a:r>
                    </a:p>
                  </a:txBody>
                  <a:tcPr marL="67181" marR="67181" marT="94053" marB="94053"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tc>
                  <a:txBody>
                    <a:bodyPr/>
                    <a:lstStyle/>
                    <a:p>
                      <a:pPr algn="ctr" fontAlgn="ctr"/>
                      <a:r>
                        <a:rPr lang="en-US" sz="900" b="0" dirty="0">
                          <a:effectLst/>
                        </a:rPr>
                        <a:t>Rule-based and deterministic, relies on explicit instructions from developers.</a:t>
                      </a:r>
                    </a:p>
                  </a:txBody>
                  <a:tcPr marL="67181" marR="67181" marT="94053" marB="94053"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tc>
                  <a:txBody>
                    <a:bodyPr/>
                    <a:lstStyle/>
                    <a:p>
                      <a:pPr algn="ctr" fontAlgn="ctr"/>
                      <a:r>
                        <a:rPr lang="en-US" sz="900" b="0">
                          <a:effectLst/>
                        </a:rPr>
                        <a:t>Uses a mix of data-driven techniques and predefined rules, incorporating ML, deep learning, and traditional programming.</a:t>
                      </a:r>
                    </a:p>
                  </a:txBody>
                  <a:tcPr marL="67181" marR="67181" marT="94053" marB="94053"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tr>
              <a:tr h="868161">
                <a:tc>
                  <a:txBody>
                    <a:bodyPr/>
                    <a:lstStyle/>
                    <a:p>
                      <a:pPr algn="ctr" fontAlgn="ctr"/>
                      <a:r>
                        <a:rPr lang="en-US" sz="900" b="0" dirty="0">
                          <a:effectLst/>
                        </a:rPr>
                        <a:t>Capable of finding patterns and insights in large datasets, learning and improving over time.</a:t>
                      </a:r>
                    </a:p>
                  </a:txBody>
                  <a:tcPr marL="67181" marR="67181" marT="94053" marB="94053"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tc>
                  <a:txBody>
                    <a:bodyPr/>
                    <a:lstStyle/>
                    <a:p>
                      <a:pPr algn="ctr" fontAlgn="ctr"/>
                      <a:r>
                        <a:rPr lang="en-US" sz="900" b="0">
                          <a:effectLst/>
                        </a:rPr>
                        <a:t>Lacks self-learning capabilities; output is directly tied to input and predefined rules.</a:t>
                      </a:r>
                    </a:p>
                  </a:txBody>
                  <a:tcPr marL="67181" marR="67181" marT="94053" marB="94053"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tc>
                  <a:txBody>
                    <a:bodyPr/>
                    <a:lstStyle/>
                    <a:p>
                      <a:pPr algn="ctr" fontAlgn="ctr"/>
                      <a:r>
                        <a:rPr lang="en-US" sz="900" b="0">
                          <a:effectLst/>
                        </a:rPr>
                        <a:t>Adapts and evolves to perform complex tasks with high accuracy, often exceeding human capabilities in specific domains.</a:t>
                      </a:r>
                    </a:p>
                  </a:txBody>
                  <a:tcPr marL="67181" marR="67181" marT="94053" marB="94053"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tr>
              <a:tr h="868161">
                <a:tc>
                  <a:txBody>
                    <a:bodyPr/>
                    <a:lstStyle/>
                    <a:p>
                      <a:pPr algn="ctr" fontAlgn="ctr"/>
                      <a:r>
                        <a:rPr lang="en-US" sz="900" b="0">
                          <a:effectLst/>
                        </a:rPr>
                        <a:t>Used in predictive analytics, autonomous vehicles, chatbots, and other AI-based applications.</a:t>
                      </a:r>
                    </a:p>
                  </a:txBody>
                  <a:tcPr marL="67181" marR="67181" marT="94053" marB="94053"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tc>
                  <a:txBody>
                    <a:bodyPr/>
                    <a:lstStyle/>
                    <a:p>
                      <a:pPr algn="ctr" fontAlgn="ctr"/>
                      <a:r>
                        <a:rPr lang="en-US" sz="900" b="0">
                          <a:effectLst/>
                        </a:rPr>
                        <a:t>Used to build applications with specific functionalities like software tools and systems.</a:t>
                      </a:r>
                    </a:p>
                  </a:txBody>
                  <a:tcPr marL="67181" marR="67181" marT="94053" marB="94053"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tc>
                  <a:txBody>
                    <a:bodyPr/>
                    <a:lstStyle/>
                    <a:p>
                      <a:pPr algn="ctr" fontAlgn="ctr"/>
                      <a:r>
                        <a:rPr lang="en-US" sz="900" b="0">
                          <a:effectLst/>
                        </a:rPr>
                        <a:t>Broad applications including natural language processing, computer vision, robotics, and more.</a:t>
                      </a:r>
                    </a:p>
                  </a:txBody>
                  <a:tcPr marL="67181" marR="67181" marT="94053" marB="94053"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tr>
              <a:tr h="868161">
                <a:tc>
                  <a:txBody>
                    <a:bodyPr/>
                    <a:lstStyle/>
                    <a:p>
                      <a:pPr algn="ctr" fontAlgn="ctr"/>
                      <a:r>
                        <a:rPr lang="en-US" sz="900" b="0">
                          <a:effectLst/>
                        </a:rPr>
                        <a:t>Dependent on the quality and diversity of data. Can perform poorly if data is not representative.</a:t>
                      </a:r>
                    </a:p>
                  </a:txBody>
                  <a:tcPr marL="67181" marR="67181" marT="94053" marB="94053"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tc>
                  <a:txBody>
                    <a:bodyPr/>
                    <a:lstStyle/>
                    <a:p>
                      <a:pPr algn="ctr" fontAlgn="ctr"/>
                      <a:r>
                        <a:rPr lang="en-US" sz="900" b="0">
                          <a:effectLst/>
                        </a:rPr>
                        <a:t>Dependent on the intelligence and foresight of developers. Limited to known scenarios.</a:t>
                      </a:r>
                    </a:p>
                  </a:txBody>
                  <a:tcPr marL="67181" marR="67181" marT="94053" marB="94053"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tc>
                  <a:txBody>
                    <a:bodyPr/>
                    <a:lstStyle/>
                    <a:p>
                      <a:pPr algn="ctr" fontAlgn="ctr"/>
                      <a:r>
                        <a:rPr lang="en-US" sz="900" b="0" dirty="0">
                          <a:effectLst/>
                        </a:rPr>
                        <a:t>Combines the strengths of both ML and traditional programming to tackle complex, multi-faceted problems.</a:t>
                      </a:r>
                    </a:p>
                  </a:txBody>
                  <a:tcPr marL="67181" marR="67181" marT="94053" marB="94053"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tr>
            </a:tbl>
          </a:graphicData>
        </a:graphic>
      </p:graphicFrame>
    </p:spTree>
    <p:extLst>
      <p:ext uri="{BB962C8B-B14F-4D97-AF65-F5344CB8AC3E}">
        <p14:creationId xmlns:p14="http://schemas.microsoft.com/office/powerpoint/2010/main" val="275801447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812175" y="624110"/>
            <a:ext cx="9692437" cy="564610"/>
          </a:xfrm>
        </p:spPr>
        <p:txBody>
          <a:bodyPr>
            <a:normAutofit fontScale="90000"/>
          </a:bodyPr>
          <a:lstStyle/>
          <a:p>
            <a:r>
              <a:rPr lang="en-US" dirty="0"/>
              <a:t>How machine learning algorithms work?</a:t>
            </a:r>
            <a:endParaRPr lang="en-IN" dirty="0"/>
          </a:p>
        </p:txBody>
      </p:sp>
      <p:sp>
        <p:nvSpPr>
          <p:cNvPr id="3" name="Content Placeholder 2"/>
          <p:cNvSpPr>
            <a:spLocks noGrp="1"/>
          </p:cNvSpPr>
          <p:nvPr>
            <p:ph idx="1"/>
          </p:nvPr>
        </p:nvSpPr>
        <p:spPr>
          <a:xfrm>
            <a:off x="1537855" y="1463040"/>
            <a:ext cx="9966757" cy="5394960"/>
          </a:xfrm>
        </p:spPr>
        <p:txBody>
          <a:bodyPr>
            <a:normAutofit fontScale="62500" lnSpcReduction="20000"/>
          </a:bodyPr>
          <a:lstStyle/>
          <a:p>
            <a:pPr algn="just" fontAlgn="base"/>
            <a:r>
              <a:rPr lang="en-US" dirty="0">
                <a:solidFill>
                  <a:srgbClr val="273239"/>
                </a:solidFill>
                <a:latin typeface="Nunito"/>
              </a:rPr>
              <a:t>A machine learning algorithm works by learning patterns and relationships from data to make predictions or decisions without being explicitly programmed for each task.</a:t>
            </a:r>
          </a:p>
          <a:p>
            <a:pPr fontAlgn="base"/>
            <a:r>
              <a:rPr lang="en-US" dirty="0">
                <a:solidFill>
                  <a:srgbClr val="273239"/>
                </a:solidFill>
                <a:latin typeface="Nunito"/>
              </a:rPr>
              <a:t>Here's a simplified overview of how a typical machine learning algorithm works:</a:t>
            </a:r>
          </a:p>
          <a:p>
            <a:pPr fontAlgn="base"/>
            <a:r>
              <a:rPr lang="en-US" b="1" dirty="0">
                <a:solidFill>
                  <a:srgbClr val="273239"/>
                </a:solidFill>
                <a:latin typeface="Nunito"/>
              </a:rPr>
              <a:t>1. Data Collection</a:t>
            </a:r>
          </a:p>
          <a:p>
            <a:pPr fontAlgn="base"/>
            <a:r>
              <a:rPr lang="en-US" dirty="0">
                <a:solidFill>
                  <a:srgbClr val="273239"/>
                </a:solidFill>
                <a:latin typeface="Nunito"/>
              </a:rPr>
              <a:t>First, relevant data is collected or curated. This data could include examples, features, or attributes that are important for the task at hand, such as images, text, numerical data, etc.</a:t>
            </a:r>
          </a:p>
          <a:p>
            <a:pPr fontAlgn="base"/>
            <a:r>
              <a:rPr lang="en-US" b="1" dirty="0">
                <a:solidFill>
                  <a:srgbClr val="273239"/>
                </a:solidFill>
                <a:latin typeface="Nunito"/>
              </a:rPr>
              <a:t>2. Data Preprocessing</a:t>
            </a:r>
          </a:p>
          <a:p>
            <a:pPr fontAlgn="base"/>
            <a:r>
              <a:rPr lang="en-US" dirty="0">
                <a:solidFill>
                  <a:srgbClr val="273239"/>
                </a:solidFill>
                <a:latin typeface="Nunito"/>
              </a:rPr>
              <a:t>Before feeding the data into the algorithm, it often needs to be preprocessed. This step may involve cleaning the data (handling missing values, outliers), transforming the data (normalization, scaling), and splitting it into training and test sets.</a:t>
            </a:r>
          </a:p>
          <a:p>
            <a:pPr fontAlgn="base"/>
            <a:r>
              <a:rPr lang="en-US" b="1" dirty="0">
                <a:solidFill>
                  <a:srgbClr val="273239"/>
                </a:solidFill>
                <a:latin typeface="Nunito"/>
              </a:rPr>
              <a:t>3. Choosing a Model</a:t>
            </a:r>
          </a:p>
          <a:p>
            <a:pPr fontAlgn="base"/>
            <a:r>
              <a:rPr lang="en-US" dirty="0">
                <a:solidFill>
                  <a:srgbClr val="273239"/>
                </a:solidFill>
                <a:latin typeface="Nunito"/>
              </a:rPr>
              <a:t>Depending on the task (e.g., classification, regression, clustering), a suitable machine learning model is chosen. Examples include decision trees, neural networks, support vector machines, and more advanced models like deep learning architectures.</a:t>
            </a:r>
          </a:p>
          <a:p>
            <a:pPr fontAlgn="base"/>
            <a:r>
              <a:rPr lang="en-US" b="1" dirty="0">
                <a:solidFill>
                  <a:srgbClr val="273239"/>
                </a:solidFill>
                <a:latin typeface="Nunito"/>
              </a:rPr>
              <a:t>4. Training the Model</a:t>
            </a:r>
          </a:p>
          <a:p>
            <a:pPr fontAlgn="base"/>
            <a:r>
              <a:rPr lang="en-US" dirty="0">
                <a:solidFill>
                  <a:srgbClr val="273239"/>
                </a:solidFill>
                <a:latin typeface="Nunito"/>
              </a:rPr>
              <a:t>The selected model is trained using the training data. During training, the algorithm learns patterns and relationships in the data. This involves adjusting model parameters iteratively to minimize the difference between predicted outputs and actual outputs (labels or targets) in the training data.</a:t>
            </a:r>
          </a:p>
          <a:p>
            <a:pPr fontAlgn="base"/>
            <a:r>
              <a:rPr lang="en-US" b="1" dirty="0">
                <a:solidFill>
                  <a:srgbClr val="273239"/>
                </a:solidFill>
                <a:latin typeface="Nunito"/>
              </a:rPr>
              <a:t>5. Evaluating the Model</a:t>
            </a:r>
          </a:p>
          <a:p>
            <a:pPr fontAlgn="base"/>
            <a:r>
              <a:rPr lang="en-US" dirty="0">
                <a:solidFill>
                  <a:srgbClr val="273239"/>
                </a:solidFill>
                <a:latin typeface="Nunito"/>
              </a:rPr>
              <a:t>Once trained, the model is evaluated using the test data to assess its performance. Metrics such as accuracy, precision, recall, or mean squared error are used to evaluate how well the model generalizes to new, unseen data.</a:t>
            </a:r>
          </a:p>
          <a:p>
            <a:pPr fontAlgn="base"/>
            <a:r>
              <a:rPr lang="en-US" b="1" dirty="0">
                <a:solidFill>
                  <a:srgbClr val="273239"/>
                </a:solidFill>
                <a:latin typeface="Nunito"/>
              </a:rPr>
              <a:t>6. Fine-tuning</a:t>
            </a:r>
          </a:p>
          <a:p>
            <a:pPr fontAlgn="base"/>
            <a:r>
              <a:rPr lang="en-US" dirty="0">
                <a:solidFill>
                  <a:srgbClr val="273239"/>
                </a:solidFill>
                <a:latin typeface="Nunito"/>
              </a:rPr>
              <a:t>Models may be fine-tuned by adjusting </a:t>
            </a:r>
            <a:r>
              <a:rPr lang="en-US" dirty="0" err="1">
                <a:solidFill>
                  <a:srgbClr val="273239"/>
                </a:solidFill>
                <a:latin typeface="Nunito"/>
              </a:rPr>
              <a:t>hyperparameters</a:t>
            </a:r>
            <a:r>
              <a:rPr lang="en-US" dirty="0">
                <a:solidFill>
                  <a:srgbClr val="273239"/>
                </a:solidFill>
                <a:latin typeface="Nunito"/>
              </a:rPr>
              <a:t> (parameters that are not directly learned during training, like learning rate or number of hidden layers in a neural network) to improve performance.</a:t>
            </a:r>
          </a:p>
          <a:p>
            <a:pPr fontAlgn="base"/>
            <a:r>
              <a:rPr lang="en-US" b="1" dirty="0">
                <a:solidFill>
                  <a:srgbClr val="273239"/>
                </a:solidFill>
                <a:latin typeface="Nunito"/>
              </a:rPr>
              <a:t>7. Prediction or Inference</a:t>
            </a:r>
          </a:p>
          <a:p>
            <a:pPr fontAlgn="base"/>
            <a:r>
              <a:rPr lang="en-US" dirty="0">
                <a:solidFill>
                  <a:srgbClr val="273239"/>
                </a:solidFill>
                <a:latin typeface="Nunito"/>
              </a:rPr>
              <a:t>Finally, the trained model is used to make predictions or decisions on new data. This process involves applying the learned patterns to new inputs to generate outputs, such as class labels in classification tasks or numerical values in regression tasks.</a:t>
            </a:r>
          </a:p>
          <a:p>
            <a:endParaRPr lang="en-IN" dirty="0"/>
          </a:p>
        </p:txBody>
      </p:sp>
    </p:spTree>
    <p:extLst>
      <p:ext uri="{BB962C8B-B14F-4D97-AF65-F5344CB8AC3E}">
        <p14:creationId xmlns:p14="http://schemas.microsoft.com/office/powerpoint/2010/main" val="170821744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92925" y="624110"/>
            <a:ext cx="8911687" cy="597861"/>
          </a:xfrm>
        </p:spPr>
        <p:txBody>
          <a:bodyPr>
            <a:normAutofit fontScale="90000"/>
          </a:bodyPr>
          <a:lstStyle/>
          <a:p>
            <a:r>
              <a:rPr lang="en-IN" dirty="0"/>
              <a:t>Machine Learning Lifecycle</a:t>
            </a:r>
          </a:p>
        </p:txBody>
      </p:sp>
      <p:sp>
        <p:nvSpPr>
          <p:cNvPr id="3" name="Content Placeholder 2"/>
          <p:cNvSpPr>
            <a:spLocks noGrp="1"/>
          </p:cNvSpPr>
          <p:nvPr>
            <p:ph idx="1"/>
          </p:nvPr>
        </p:nvSpPr>
        <p:spPr>
          <a:xfrm>
            <a:off x="1105593" y="1388225"/>
            <a:ext cx="10399019" cy="5295208"/>
          </a:xfrm>
        </p:spPr>
        <p:txBody>
          <a:bodyPr>
            <a:normAutofit fontScale="92500" lnSpcReduction="20000"/>
          </a:bodyPr>
          <a:lstStyle/>
          <a:p>
            <a:r>
              <a:rPr lang="en-US" dirty="0"/>
              <a:t>The machine learning lifecycle includes:</a:t>
            </a:r>
          </a:p>
          <a:p>
            <a:endParaRPr lang="en-US" dirty="0"/>
          </a:p>
          <a:p>
            <a:r>
              <a:rPr lang="en-US" dirty="0">
                <a:solidFill>
                  <a:srgbClr val="FF0000"/>
                </a:solidFill>
              </a:rPr>
              <a:t>Defining the Problem</a:t>
            </a:r>
            <a:r>
              <a:rPr lang="en-US" dirty="0"/>
              <a:t>: Clearly identify the real-world problem to be solved.</a:t>
            </a:r>
          </a:p>
          <a:p>
            <a:r>
              <a:rPr lang="en-US" dirty="0">
                <a:solidFill>
                  <a:srgbClr val="FF0000"/>
                </a:solidFill>
              </a:rPr>
              <a:t>Data Collection</a:t>
            </a:r>
            <a:r>
              <a:rPr lang="en-US" dirty="0"/>
              <a:t>: Gather necessary data from various sources.</a:t>
            </a:r>
          </a:p>
          <a:p>
            <a:r>
              <a:rPr lang="en-US" dirty="0">
                <a:solidFill>
                  <a:srgbClr val="FF0000"/>
                </a:solidFill>
              </a:rPr>
              <a:t>Data Cleaning and Preprocessing</a:t>
            </a:r>
            <a:r>
              <a:rPr lang="en-US" dirty="0"/>
              <a:t>: Resolve data quality issues and prepare the data for analysis.</a:t>
            </a:r>
          </a:p>
          <a:p>
            <a:r>
              <a:rPr lang="en-US" dirty="0">
                <a:solidFill>
                  <a:srgbClr val="FF0000"/>
                </a:solidFill>
              </a:rPr>
              <a:t>Exploratory Data Analysis (EDA</a:t>
            </a:r>
            <a:r>
              <a:rPr lang="en-US" dirty="0"/>
              <a:t>): Analyze data to identify patterns, outliers, and trends.</a:t>
            </a:r>
          </a:p>
          <a:p>
            <a:r>
              <a:rPr lang="en-US" dirty="0">
                <a:solidFill>
                  <a:srgbClr val="FF0000"/>
                </a:solidFill>
              </a:rPr>
              <a:t>Feature Engineering and Selection</a:t>
            </a:r>
            <a:r>
              <a:rPr lang="en-US" dirty="0"/>
              <a:t>: Enhance data features and select relevant ones to improve model performance.</a:t>
            </a:r>
          </a:p>
          <a:p>
            <a:r>
              <a:rPr lang="en-US" dirty="0">
                <a:solidFill>
                  <a:srgbClr val="FF0000"/>
                </a:solidFill>
              </a:rPr>
              <a:t>Model Selection: </a:t>
            </a:r>
            <a:r>
              <a:rPr lang="en-US" dirty="0"/>
              <a:t>Choose suitable models based on the problem type and data characteristics.</a:t>
            </a:r>
          </a:p>
          <a:p>
            <a:r>
              <a:rPr lang="en-US" dirty="0">
                <a:solidFill>
                  <a:srgbClr val="FF0000"/>
                </a:solidFill>
              </a:rPr>
              <a:t>Model Training</a:t>
            </a:r>
            <a:r>
              <a:rPr lang="en-US" dirty="0"/>
              <a:t>: Train the model using a split of training and validation datasets.</a:t>
            </a:r>
          </a:p>
          <a:p>
            <a:r>
              <a:rPr lang="en-US" dirty="0">
                <a:solidFill>
                  <a:srgbClr val="FF0000"/>
                </a:solidFill>
              </a:rPr>
              <a:t>Model Evaluation and Tuning: </a:t>
            </a:r>
            <a:r>
              <a:rPr lang="en-US" dirty="0"/>
              <a:t>Assess and optimize the model using relevant metrics.</a:t>
            </a:r>
          </a:p>
          <a:p>
            <a:r>
              <a:rPr lang="en-US" dirty="0">
                <a:solidFill>
                  <a:srgbClr val="FF0000"/>
                </a:solidFill>
              </a:rPr>
              <a:t>Model Deployment</a:t>
            </a:r>
            <a:r>
              <a:rPr lang="en-US" dirty="0"/>
              <a:t>: Implement the model in a production environment for real-time predictions.</a:t>
            </a:r>
          </a:p>
          <a:p>
            <a:r>
              <a:rPr lang="en-US" dirty="0">
                <a:solidFill>
                  <a:srgbClr val="FF0000"/>
                </a:solidFill>
              </a:rPr>
              <a:t>Model Monitoring and Maintenance</a:t>
            </a:r>
            <a:r>
              <a:rPr lang="en-US" dirty="0"/>
              <a:t>: Regularly check and update the model to maintain accuracy.</a:t>
            </a:r>
            <a:endParaRPr lang="en-IN" dirty="0"/>
          </a:p>
        </p:txBody>
      </p:sp>
    </p:spTree>
    <p:extLst>
      <p:ext uri="{BB962C8B-B14F-4D97-AF65-F5344CB8AC3E}">
        <p14:creationId xmlns:p14="http://schemas.microsoft.com/office/powerpoint/2010/main" val="102723734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11927" y="624110"/>
            <a:ext cx="9592685" cy="913745"/>
          </a:xfrm>
        </p:spPr>
        <p:txBody>
          <a:bodyPr/>
          <a:lstStyle/>
          <a:p>
            <a:r>
              <a:rPr lang="en-IN" dirty="0" smtClean="0"/>
              <a:t>ML</a:t>
            </a:r>
            <a:endParaRPr lang="en-IN" dirty="0"/>
          </a:p>
        </p:txBody>
      </p:sp>
      <p:pic>
        <p:nvPicPr>
          <p:cNvPr id="4" name="Content Placeholder 3"/>
          <p:cNvPicPr>
            <a:picLocks noGrp="1" noChangeAspect="1"/>
          </p:cNvPicPr>
          <p:nvPr>
            <p:ph idx="1"/>
          </p:nvPr>
        </p:nvPicPr>
        <p:blipFill>
          <a:blip r:embed="rId2"/>
          <a:stretch>
            <a:fillRect/>
          </a:stretch>
        </p:blipFill>
        <p:spPr>
          <a:xfrm>
            <a:off x="2161309" y="2133599"/>
            <a:ext cx="8902931" cy="4533207"/>
          </a:xfrm>
          <a:prstGeom prst="rect">
            <a:avLst/>
          </a:prstGeom>
        </p:spPr>
      </p:pic>
    </p:spTree>
    <p:extLst>
      <p:ext uri="{BB962C8B-B14F-4D97-AF65-F5344CB8AC3E}">
        <p14:creationId xmlns:p14="http://schemas.microsoft.com/office/powerpoint/2010/main" val="38255846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87485" y="624110"/>
            <a:ext cx="9817128" cy="689301"/>
          </a:xfrm>
        </p:spPr>
        <p:txBody>
          <a:bodyPr/>
          <a:lstStyle/>
          <a:p>
            <a:r>
              <a:rPr lang="en-IN" dirty="0"/>
              <a:t>Types of Machine Learning</a:t>
            </a:r>
          </a:p>
        </p:txBody>
      </p:sp>
      <p:sp>
        <p:nvSpPr>
          <p:cNvPr id="3" name="Content Placeholder 2"/>
          <p:cNvSpPr>
            <a:spLocks noGrp="1"/>
          </p:cNvSpPr>
          <p:nvPr>
            <p:ph idx="1"/>
          </p:nvPr>
        </p:nvSpPr>
        <p:spPr>
          <a:xfrm>
            <a:off x="1828800" y="2133600"/>
            <a:ext cx="9675812" cy="3777622"/>
          </a:xfrm>
        </p:spPr>
        <p:txBody>
          <a:bodyPr/>
          <a:lstStyle/>
          <a:p>
            <a:r>
              <a:rPr lang="en-US" dirty="0"/>
              <a:t>Types of Machine Learning</a:t>
            </a:r>
          </a:p>
          <a:p>
            <a:r>
              <a:rPr lang="en-US" dirty="0"/>
              <a:t>1. Supervised Machine Learning</a:t>
            </a:r>
          </a:p>
          <a:p>
            <a:r>
              <a:rPr lang="en-US" dirty="0">
                <a:solidFill>
                  <a:srgbClr val="FF0000"/>
                </a:solidFill>
              </a:rPr>
              <a:t>Supervised learning algorithms </a:t>
            </a:r>
            <a:r>
              <a:rPr lang="en-US" dirty="0"/>
              <a:t>are trained on the labeled dataset. They learn to map input features to targets based on labeled training data. There are two main types of supervised learning:</a:t>
            </a:r>
          </a:p>
          <a:p>
            <a:r>
              <a:rPr lang="en-US" dirty="0" smtClean="0">
                <a:solidFill>
                  <a:srgbClr val="FF0000"/>
                </a:solidFill>
              </a:rPr>
              <a:t>Regression</a:t>
            </a:r>
            <a:r>
              <a:rPr lang="en-US" dirty="0">
                <a:solidFill>
                  <a:srgbClr val="FF0000"/>
                </a:solidFill>
              </a:rPr>
              <a:t>:</a:t>
            </a:r>
            <a:r>
              <a:rPr lang="en-US" dirty="0"/>
              <a:t> Regression algorithm learns to predict continuous values based on input features.</a:t>
            </a:r>
          </a:p>
          <a:p>
            <a:r>
              <a:rPr lang="en-US" dirty="0">
                <a:solidFill>
                  <a:srgbClr val="FF0000"/>
                </a:solidFill>
              </a:rPr>
              <a:t>Classification:</a:t>
            </a:r>
            <a:r>
              <a:rPr lang="en-US" dirty="0"/>
              <a:t> Classification algorithm learns to assign input data to a specific category or class based on input features. The output labels in classification are discrete values.</a:t>
            </a:r>
            <a:endParaRPr lang="en-IN" dirty="0"/>
          </a:p>
        </p:txBody>
      </p:sp>
    </p:spTree>
    <p:extLst>
      <p:ext uri="{BB962C8B-B14F-4D97-AF65-F5344CB8AC3E}">
        <p14:creationId xmlns:p14="http://schemas.microsoft.com/office/powerpoint/2010/main" val="405892000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92925" y="624110"/>
            <a:ext cx="8911687" cy="631112"/>
          </a:xfrm>
        </p:spPr>
        <p:txBody>
          <a:bodyPr>
            <a:normAutofit fontScale="90000"/>
          </a:bodyPr>
          <a:lstStyle/>
          <a:p>
            <a:r>
              <a:rPr lang="en-IN" dirty="0"/>
              <a:t>2. Unsupervised Machine Learning</a:t>
            </a:r>
            <a:br>
              <a:rPr lang="en-IN" dirty="0"/>
            </a:br>
            <a:endParaRPr lang="en-IN" dirty="0"/>
          </a:p>
        </p:txBody>
      </p:sp>
      <p:sp>
        <p:nvSpPr>
          <p:cNvPr id="3" name="Content Placeholder 2"/>
          <p:cNvSpPr>
            <a:spLocks noGrp="1"/>
          </p:cNvSpPr>
          <p:nvPr>
            <p:ph idx="1"/>
          </p:nvPr>
        </p:nvSpPr>
        <p:spPr>
          <a:xfrm>
            <a:off x="2589212" y="1255222"/>
            <a:ext cx="8915400" cy="4656000"/>
          </a:xfrm>
        </p:spPr>
        <p:txBody>
          <a:bodyPr>
            <a:normAutofit/>
          </a:bodyPr>
          <a:lstStyle/>
          <a:p>
            <a:r>
              <a:rPr lang="en-US" dirty="0" smtClean="0"/>
              <a:t>Unsupervised </a:t>
            </a:r>
            <a:r>
              <a:rPr lang="en-US" dirty="0"/>
              <a:t>learning algorithm learns to recognize patterns in data without being explicitly trained using labeled examples. The goal is to discover the underlying structure or distribution in the data.</a:t>
            </a:r>
          </a:p>
          <a:p>
            <a:r>
              <a:rPr lang="en-US" dirty="0" smtClean="0"/>
              <a:t>There </a:t>
            </a:r>
            <a:r>
              <a:rPr lang="en-US" dirty="0"/>
              <a:t>are two main types of unsupervised learning:</a:t>
            </a:r>
          </a:p>
          <a:p>
            <a:r>
              <a:rPr lang="en-US" dirty="0" smtClean="0">
                <a:solidFill>
                  <a:srgbClr val="FF0000"/>
                </a:solidFill>
              </a:rPr>
              <a:t>Clustering</a:t>
            </a:r>
            <a:r>
              <a:rPr lang="en-US" dirty="0"/>
              <a:t>: Clustering algorithms group similar data points together based on their characteristics. The goal is to identify groups, or clusters, of data points that are similar to each other, while being distinct from other groups.</a:t>
            </a:r>
          </a:p>
          <a:p>
            <a:r>
              <a:rPr lang="en-US" dirty="0">
                <a:solidFill>
                  <a:srgbClr val="FF0000"/>
                </a:solidFill>
              </a:rPr>
              <a:t>Dimensionality reduction</a:t>
            </a:r>
            <a:r>
              <a:rPr lang="en-US" dirty="0"/>
              <a:t>: Dimensionality reduction algorithms reduce the number of input variables in a dataset while preserving as much of the original information as possible. This is useful for reducing the complexity of a dataset and making it easier to visualize and analyze.</a:t>
            </a:r>
            <a:endParaRPr lang="en-IN" dirty="0"/>
          </a:p>
        </p:txBody>
      </p:sp>
    </p:spTree>
    <p:extLst>
      <p:ext uri="{BB962C8B-B14F-4D97-AF65-F5344CB8AC3E}">
        <p14:creationId xmlns:p14="http://schemas.microsoft.com/office/powerpoint/2010/main" val="22455367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70117" y="624110"/>
            <a:ext cx="9534496" cy="697614"/>
          </a:xfrm>
        </p:spPr>
        <p:txBody>
          <a:bodyPr/>
          <a:lstStyle/>
          <a:p>
            <a:r>
              <a:rPr lang="en-IN" dirty="0"/>
              <a:t>3. Reinforcement Machine Learning</a:t>
            </a:r>
          </a:p>
        </p:txBody>
      </p:sp>
      <p:sp>
        <p:nvSpPr>
          <p:cNvPr id="3" name="Content Placeholder 2"/>
          <p:cNvSpPr>
            <a:spLocks noGrp="1"/>
          </p:cNvSpPr>
          <p:nvPr>
            <p:ph idx="1"/>
          </p:nvPr>
        </p:nvSpPr>
        <p:spPr>
          <a:xfrm>
            <a:off x="1213658" y="1670858"/>
            <a:ext cx="10290954" cy="4006736"/>
          </a:xfrm>
        </p:spPr>
        <p:txBody>
          <a:bodyPr>
            <a:normAutofit/>
          </a:bodyPr>
          <a:lstStyle/>
          <a:p>
            <a:pPr fontAlgn="base"/>
            <a:r>
              <a:rPr lang="en-US" dirty="0">
                <a:solidFill>
                  <a:srgbClr val="273239"/>
                </a:solidFill>
                <a:latin typeface="Nunito"/>
              </a:rPr>
              <a:t>In </a:t>
            </a:r>
            <a:r>
              <a:rPr lang="en-US" u="sng" dirty="0">
                <a:solidFill>
                  <a:srgbClr val="357960"/>
                </a:solidFill>
                <a:latin typeface="Nunito"/>
                <a:hlinkClick r:id="rId2"/>
              </a:rPr>
              <a:t>Reinforcement Learning</a:t>
            </a:r>
            <a:r>
              <a:rPr lang="en-US" dirty="0">
                <a:solidFill>
                  <a:srgbClr val="273239"/>
                </a:solidFill>
                <a:latin typeface="Nunito"/>
              </a:rPr>
              <a:t>, an agent learns to interact with an environment by performing actions and receiving rewards or penalties based on its actions. The goal of reinforcement learning is to learn a policy, which is a mapping from states to actions, that maximizes the expected cumulative reward over time.</a:t>
            </a:r>
          </a:p>
          <a:p>
            <a:pPr algn="just" fontAlgn="base"/>
            <a:r>
              <a:rPr lang="en-US" dirty="0">
                <a:solidFill>
                  <a:srgbClr val="273239"/>
                </a:solidFill>
                <a:latin typeface="Nunito"/>
              </a:rPr>
              <a:t>There are two main types of reinforcement learning:</a:t>
            </a:r>
          </a:p>
          <a:p>
            <a:pPr fontAlgn="base">
              <a:buFont typeface="Arial" panose="020B0604020202020204" pitchFamily="34" charset="0"/>
              <a:buChar char="•"/>
            </a:pPr>
            <a:r>
              <a:rPr lang="en-US" b="1" u="sng" dirty="0">
                <a:solidFill>
                  <a:srgbClr val="357960"/>
                </a:solidFill>
                <a:latin typeface="Nunito"/>
                <a:hlinkClick r:id="rId3"/>
              </a:rPr>
              <a:t>Model-based reinforcement learning</a:t>
            </a:r>
            <a:r>
              <a:rPr lang="en-US" b="1" dirty="0">
                <a:solidFill>
                  <a:srgbClr val="273239"/>
                </a:solidFill>
                <a:latin typeface="Nunito"/>
              </a:rPr>
              <a:t>:</a:t>
            </a:r>
            <a:r>
              <a:rPr lang="en-US" dirty="0">
                <a:solidFill>
                  <a:srgbClr val="273239"/>
                </a:solidFill>
                <a:latin typeface="Nunito"/>
              </a:rPr>
              <a:t> The agent learns a model of the environment, including the transition probabilities between states and the rewards associated with each state-action pair. The agent then uses this model to plan its actions in order to maximize its expected reward.</a:t>
            </a:r>
          </a:p>
          <a:p>
            <a:pPr fontAlgn="base">
              <a:buFont typeface="Arial" panose="020B0604020202020204" pitchFamily="34" charset="0"/>
              <a:buChar char="•"/>
            </a:pPr>
            <a:r>
              <a:rPr lang="en-US" b="1" u="sng" dirty="0">
                <a:solidFill>
                  <a:srgbClr val="357960"/>
                </a:solidFill>
                <a:latin typeface="Nunito"/>
                <a:hlinkClick r:id="rId4"/>
              </a:rPr>
              <a:t>Model-free reinforcement learning</a:t>
            </a:r>
            <a:r>
              <a:rPr lang="en-US" dirty="0">
                <a:solidFill>
                  <a:srgbClr val="273239"/>
                </a:solidFill>
                <a:latin typeface="Nunito"/>
              </a:rPr>
              <a:t>: The agent learns a policy directly from experience without explicitly building a model of the environment. The agent interacts with the environment and updates its policy based on the rewards it receives.</a:t>
            </a:r>
          </a:p>
          <a:p>
            <a:endParaRPr lang="en-IN" dirty="0"/>
          </a:p>
        </p:txBody>
      </p:sp>
    </p:spTree>
    <p:extLst>
      <p:ext uri="{BB962C8B-B14F-4D97-AF65-F5344CB8AC3E}">
        <p14:creationId xmlns:p14="http://schemas.microsoft.com/office/powerpoint/2010/main" val="55356547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12669" y="624110"/>
            <a:ext cx="9891944" cy="730865"/>
          </a:xfrm>
        </p:spPr>
        <p:txBody>
          <a:bodyPr/>
          <a:lstStyle/>
          <a:p>
            <a:r>
              <a:rPr lang="en-US" dirty="0"/>
              <a:t>Various Applications of Machine Learning</a:t>
            </a:r>
            <a:endParaRPr lang="en-IN" dirty="0"/>
          </a:p>
        </p:txBody>
      </p:sp>
      <p:sp>
        <p:nvSpPr>
          <p:cNvPr id="3" name="Content Placeholder 2"/>
          <p:cNvSpPr>
            <a:spLocks noGrp="1"/>
          </p:cNvSpPr>
          <p:nvPr>
            <p:ph idx="1"/>
          </p:nvPr>
        </p:nvSpPr>
        <p:spPr>
          <a:xfrm>
            <a:off x="831273" y="1662545"/>
            <a:ext cx="10673339" cy="4813070"/>
          </a:xfrm>
        </p:spPr>
        <p:txBody>
          <a:bodyPr>
            <a:normAutofit fontScale="85000" lnSpcReduction="10000"/>
          </a:bodyPr>
          <a:lstStyle/>
          <a:p>
            <a:r>
              <a:rPr lang="en-US" dirty="0"/>
              <a:t>Automation: Machine learning, which works entirely autonomously in any field without the need for any human intervention. For example, robots perform the essential process steps in manufacturing plants.</a:t>
            </a:r>
          </a:p>
          <a:p>
            <a:r>
              <a:rPr lang="en-US" dirty="0"/>
              <a:t>Finance Industry: Machine learning is growing in popularity in the finance industry. Banks are mainly using ML to find patterns inside the data but also to prevent fraud.</a:t>
            </a:r>
          </a:p>
          <a:p>
            <a:r>
              <a:rPr lang="en-US" dirty="0"/>
              <a:t>Government organization: The government makes use of ML to manage public safety and utilities. Take the example of China with its massive face recognition. The government uses Artificial intelligence to prevent jaywalking.</a:t>
            </a:r>
          </a:p>
          <a:p>
            <a:r>
              <a:rPr lang="en-US" dirty="0"/>
              <a:t>Healthcare industry: Healthcare was one of the first industries to use machine learning with image detection.</a:t>
            </a:r>
          </a:p>
          <a:p>
            <a:r>
              <a:rPr lang="en-US" dirty="0"/>
              <a:t>Marketing: Broad use of AI is done in marketing thanks to abundant access to data. Before the age of mass data, researchers develop advanced mathematical tools like Bayesian analysis to estimate the value of a customer. With the boom of data, the marketing department relies on AI to optimize customer relationships and marketing campaigns.</a:t>
            </a:r>
          </a:p>
          <a:p>
            <a:r>
              <a:rPr lang="en-US" dirty="0"/>
              <a:t>Retail industry: Machine learning is used in the retail industry to analyze customer behavior, predict demand, and manage inventory. It also helps retailers to personalize the shopping experience for each customer by recommending products based on their past purchases and preferences.</a:t>
            </a:r>
          </a:p>
          <a:p>
            <a:r>
              <a:rPr lang="en-US" dirty="0"/>
              <a:t>Transportation: Machine learning is used in the transportation industry to optimize routes, reduce fuel consumption, and improve the overall efficiency of transportation systems. It also plays a role in autonomous vehicles, where ML algorithms are used to make decisions about navigation and safety.</a:t>
            </a:r>
            <a:endParaRPr lang="en-IN" dirty="0"/>
          </a:p>
        </p:txBody>
      </p:sp>
    </p:spTree>
    <p:extLst>
      <p:ext uri="{BB962C8B-B14F-4D97-AF65-F5344CB8AC3E}">
        <p14:creationId xmlns:p14="http://schemas.microsoft.com/office/powerpoint/2010/main" val="266958141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6743" y="624110"/>
            <a:ext cx="9517870" cy="639425"/>
          </a:xfrm>
        </p:spPr>
        <p:txBody>
          <a:bodyPr>
            <a:normAutofit fontScale="90000"/>
          </a:bodyPr>
          <a:lstStyle/>
          <a:p>
            <a:r>
              <a:rPr lang="en-IN" dirty="0"/>
              <a:t>Limitations of Machine Learning</a:t>
            </a:r>
          </a:p>
        </p:txBody>
      </p:sp>
      <p:sp>
        <p:nvSpPr>
          <p:cNvPr id="3" name="Content Placeholder 2"/>
          <p:cNvSpPr>
            <a:spLocks noGrp="1"/>
          </p:cNvSpPr>
          <p:nvPr>
            <p:ph idx="1"/>
          </p:nvPr>
        </p:nvSpPr>
        <p:spPr>
          <a:xfrm>
            <a:off x="1587731" y="1612669"/>
            <a:ext cx="9916881" cy="3690851"/>
          </a:xfrm>
        </p:spPr>
        <p:txBody>
          <a:bodyPr/>
          <a:lstStyle/>
          <a:p>
            <a:r>
              <a:rPr lang="en-US" dirty="0">
                <a:solidFill>
                  <a:srgbClr val="FF0000"/>
                </a:solidFill>
              </a:rPr>
              <a:t>Data Availability</a:t>
            </a:r>
            <a:r>
              <a:rPr lang="en-US" dirty="0"/>
              <a:t>: Machines require sufficient data to learn; without it, learning cannot occur.</a:t>
            </a:r>
          </a:p>
          <a:p>
            <a:r>
              <a:rPr lang="en-US" dirty="0">
                <a:solidFill>
                  <a:srgbClr val="FF0000"/>
                </a:solidFill>
              </a:rPr>
              <a:t>Diversity in Data</a:t>
            </a:r>
            <a:r>
              <a:rPr lang="en-US" dirty="0"/>
              <a:t>: A lack of diversity within the dataset can significantly hinder machine learning processes.</a:t>
            </a:r>
          </a:p>
          <a:p>
            <a:r>
              <a:rPr lang="en-US" dirty="0">
                <a:solidFill>
                  <a:srgbClr val="FF0000"/>
                </a:solidFill>
              </a:rPr>
              <a:t>Need for Heterogeneity</a:t>
            </a:r>
            <a:r>
              <a:rPr lang="en-US" dirty="0"/>
              <a:t>: Diverse and varied data are crucial for extracting meaningful insights.</a:t>
            </a:r>
          </a:p>
          <a:p>
            <a:r>
              <a:rPr lang="en-US" dirty="0">
                <a:solidFill>
                  <a:srgbClr val="FF0000"/>
                </a:solidFill>
              </a:rPr>
              <a:t>Impact of Low Variation</a:t>
            </a:r>
            <a:r>
              <a:rPr lang="en-US" dirty="0"/>
              <a:t>: Algorithms struggle to derive information from datasets with minimal variation.</a:t>
            </a:r>
          </a:p>
          <a:p>
            <a:r>
              <a:rPr lang="en-US" dirty="0">
                <a:solidFill>
                  <a:srgbClr val="FF0000"/>
                </a:solidFill>
              </a:rPr>
              <a:t>Observations Per Group</a:t>
            </a:r>
            <a:r>
              <a:rPr lang="en-US" dirty="0"/>
              <a:t>: It is recommended to have at least 20 observations per group to ensure effective learning.</a:t>
            </a:r>
            <a:endParaRPr lang="en-IN" dirty="0"/>
          </a:p>
        </p:txBody>
      </p:sp>
    </p:spTree>
    <p:extLst>
      <p:ext uri="{BB962C8B-B14F-4D97-AF65-F5344CB8AC3E}">
        <p14:creationId xmlns:p14="http://schemas.microsoft.com/office/powerpoint/2010/main" val="195810474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20735" y="624110"/>
            <a:ext cx="9783877" cy="897119"/>
          </a:xfrm>
        </p:spPr>
        <p:txBody>
          <a:bodyPr>
            <a:normAutofit fontScale="90000"/>
          </a:bodyPr>
          <a:lstStyle/>
          <a:p>
            <a:r>
              <a:rPr lang="en-US" dirty="0"/>
              <a:t>Explanation of the PAC Learning Framework and Its Importance</a:t>
            </a:r>
            <a:endParaRPr lang="en-IN" dirty="0"/>
          </a:p>
        </p:txBody>
      </p:sp>
      <p:sp>
        <p:nvSpPr>
          <p:cNvPr id="3" name="Content Placeholder 2"/>
          <p:cNvSpPr>
            <a:spLocks noGrp="1"/>
          </p:cNvSpPr>
          <p:nvPr>
            <p:ph idx="1"/>
          </p:nvPr>
        </p:nvSpPr>
        <p:spPr>
          <a:xfrm>
            <a:off x="1620982" y="1637607"/>
            <a:ext cx="9883630" cy="4273615"/>
          </a:xfrm>
        </p:spPr>
        <p:txBody>
          <a:bodyPr/>
          <a:lstStyle/>
          <a:p>
            <a:r>
              <a:rPr lang="en-IN" dirty="0"/>
              <a:t>What is PAC Learning?</a:t>
            </a:r>
          </a:p>
        </p:txBody>
      </p:sp>
      <p:sp>
        <p:nvSpPr>
          <p:cNvPr id="4" name="Rectangle 3"/>
          <p:cNvSpPr/>
          <p:nvPr/>
        </p:nvSpPr>
        <p:spPr>
          <a:xfrm>
            <a:off x="1778924" y="2136339"/>
            <a:ext cx="8304414" cy="2031325"/>
          </a:xfrm>
          <a:prstGeom prst="rect">
            <a:avLst/>
          </a:prstGeom>
        </p:spPr>
        <p:txBody>
          <a:bodyPr wrap="square">
            <a:spAutoFit/>
          </a:bodyPr>
          <a:lstStyle/>
          <a:p>
            <a:r>
              <a:rPr lang="en-US" dirty="0"/>
              <a:t>Probably Approximately Correct (PAC) learning is a theoretical framework introduced by Leslie Valiant in 1984. It addresses the problem of learning a function from a set of samples in a way that is both probably correct and approximately correct. In simpler terms, PAC learning formalizes the conditions under which a learning algorithm can be expected to perform well on new, unseen data after being trained on a finite set of examples.</a:t>
            </a:r>
            <a:endParaRPr lang="en-IN" dirty="0"/>
          </a:p>
        </p:txBody>
      </p:sp>
    </p:spTree>
    <p:extLst>
      <p:ext uri="{BB962C8B-B14F-4D97-AF65-F5344CB8AC3E}">
        <p14:creationId xmlns:p14="http://schemas.microsoft.com/office/powerpoint/2010/main" val="291632829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92925" y="624110"/>
            <a:ext cx="8911687" cy="672675"/>
          </a:xfrm>
        </p:spPr>
        <p:txBody>
          <a:bodyPr/>
          <a:lstStyle/>
          <a:p>
            <a:r>
              <a:rPr lang="en-IN" dirty="0" err="1" smtClean="0"/>
              <a:t>Multiclassification</a:t>
            </a:r>
            <a:endParaRPr lang="en-IN" dirty="0"/>
          </a:p>
        </p:txBody>
      </p:sp>
      <p:pic>
        <p:nvPicPr>
          <p:cNvPr id="4" name="Content Placeholder 3"/>
          <p:cNvPicPr>
            <a:picLocks noGrp="1" noChangeAspect="1"/>
          </p:cNvPicPr>
          <p:nvPr>
            <p:ph idx="1"/>
          </p:nvPr>
        </p:nvPicPr>
        <p:blipFill>
          <a:blip r:embed="rId2"/>
          <a:stretch>
            <a:fillRect/>
          </a:stretch>
        </p:blipFill>
        <p:spPr>
          <a:xfrm>
            <a:off x="3283527" y="2133599"/>
            <a:ext cx="6245810" cy="4184073"/>
          </a:xfrm>
          <a:prstGeom prst="rect">
            <a:avLst/>
          </a:prstGeom>
        </p:spPr>
      </p:pic>
    </p:spTree>
    <p:extLst>
      <p:ext uri="{BB962C8B-B14F-4D97-AF65-F5344CB8AC3E}">
        <p14:creationId xmlns:p14="http://schemas.microsoft.com/office/powerpoint/2010/main" val="122837985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92925" y="624110"/>
            <a:ext cx="8911687" cy="639425"/>
          </a:xfrm>
        </p:spPr>
        <p:txBody>
          <a:bodyPr>
            <a:normAutofit fontScale="90000"/>
          </a:bodyPr>
          <a:lstStyle/>
          <a:p>
            <a:r>
              <a:rPr lang="en-IN" dirty="0"/>
              <a:t>Multiclass classification </a:t>
            </a:r>
          </a:p>
        </p:txBody>
      </p:sp>
      <p:sp>
        <p:nvSpPr>
          <p:cNvPr id="3" name="Content Placeholder 2"/>
          <p:cNvSpPr>
            <a:spLocks noGrp="1"/>
          </p:cNvSpPr>
          <p:nvPr>
            <p:ph idx="1"/>
          </p:nvPr>
        </p:nvSpPr>
        <p:spPr>
          <a:xfrm>
            <a:off x="1130531" y="1729047"/>
            <a:ext cx="10374081" cy="4182175"/>
          </a:xfrm>
        </p:spPr>
        <p:txBody>
          <a:bodyPr/>
          <a:lstStyle/>
          <a:p>
            <a:r>
              <a:rPr lang="en-US" dirty="0"/>
              <a:t>Multiclass classification is a machine learning challenge focused on categorizing data into more than two classes. While binary classification involves distinguishing between only two classes, multiclass classification expands this scope to involve distinguishing between multiple </a:t>
            </a:r>
            <a:r>
              <a:rPr lang="en-US" dirty="0" smtClean="0"/>
              <a:t>classes.</a:t>
            </a:r>
          </a:p>
          <a:p>
            <a:endParaRPr lang="en-US" dirty="0" smtClean="0"/>
          </a:p>
          <a:p>
            <a:r>
              <a:rPr lang="en-US" dirty="0" smtClean="0"/>
              <a:t>Multiclass </a:t>
            </a:r>
            <a:r>
              <a:rPr lang="en-US" dirty="0"/>
              <a:t>classification is a type of machine learning task where the goal is to categorize instances into one of several predefined classes. Unlike binary classification, where there are only two possible outcomes, multiclass classification involves distinguishing between multiple classes or categories</a:t>
            </a:r>
            <a:r>
              <a:rPr lang="en-US" dirty="0" smtClean="0"/>
              <a:t>.</a:t>
            </a:r>
          </a:p>
          <a:p>
            <a:endParaRPr lang="en-US" dirty="0"/>
          </a:p>
          <a:p>
            <a:r>
              <a:rPr lang="en-US" dirty="0"/>
              <a:t>Multiclass classification finds application in a wide range of real-world scenarios.</a:t>
            </a:r>
            <a:endParaRPr lang="en-IN" dirty="0"/>
          </a:p>
        </p:txBody>
      </p:sp>
    </p:spTree>
    <p:extLst>
      <p:ext uri="{BB962C8B-B14F-4D97-AF65-F5344CB8AC3E}">
        <p14:creationId xmlns:p14="http://schemas.microsoft.com/office/powerpoint/2010/main" val="164939576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92925" y="624110"/>
            <a:ext cx="8911687" cy="664363"/>
          </a:xfrm>
        </p:spPr>
        <p:txBody>
          <a:bodyPr/>
          <a:lstStyle/>
          <a:p>
            <a:r>
              <a:rPr lang="en-US" dirty="0"/>
              <a:t>F1 Score in Machine Learning</a:t>
            </a:r>
            <a:endParaRPr lang="en-IN" dirty="0"/>
          </a:p>
        </p:txBody>
      </p:sp>
      <p:sp>
        <p:nvSpPr>
          <p:cNvPr id="3" name="Content Placeholder 2"/>
          <p:cNvSpPr>
            <a:spLocks noGrp="1"/>
          </p:cNvSpPr>
          <p:nvPr>
            <p:ph idx="1"/>
          </p:nvPr>
        </p:nvSpPr>
        <p:spPr/>
        <p:txBody>
          <a:bodyPr/>
          <a:lstStyle/>
          <a:p>
            <a:r>
              <a:rPr lang="en-US" dirty="0"/>
              <a:t>F1 Score is a performance metric used in machine learning to evaluate how well a classification model performs on a dataset especially when the classes are imbalanced meaning one class appears much more frequently than another. It is the harmonic mean of precision and recall which combine both metrics into a single value that balances their importance.</a:t>
            </a:r>
          </a:p>
          <a:p>
            <a:endParaRPr lang="en-US" dirty="0"/>
          </a:p>
          <a:p>
            <a:r>
              <a:rPr lang="en-US" dirty="0"/>
              <a:t>Before understanding F1 Score let's understand two key terms:</a:t>
            </a:r>
            <a:endParaRPr lang="en-IN" dirty="0"/>
          </a:p>
        </p:txBody>
      </p:sp>
    </p:spTree>
    <p:extLst>
      <p:ext uri="{BB962C8B-B14F-4D97-AF65-F5344CB8AC3E}">
        <p14:creationId xmlns:p14="http://schemas.microsoft.com/office/powerpoint/2010/main" val="225886130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92925" y="624110"/>
            <a:ext cx="8911687" cy="581235"/>
          </a:xfrm>
        </p:spPr>
        <p:txBody>
          <a:bodyPr>
            <a:normAutofit fontScale="90000"/>
          </a:bodyPr>
          <a:lstStyle/>
          <a:p>
            <a:r>
              <a:rPr lang="en-IN" dirty="0"/>
              <a:t>1. Precision:</a:t>
            </a:r>
          </a:p>
        </p:txBody>
      </p:sp>
      <p:sp>
        <p:nvSpPr>
          <p:cNvPr id="3" name="Content Placeholder 2"/>
          <p:cNvSpPr>
            <a:spLocks noGrp="1"/>
          </p:cNvSpPr>
          <p:nvPr>
            <p:ph idx="1"/>
          </p:nvPr>
        </p:nvSpPr>
        <p:spPr>
          <a:xfrm>
            <a:off x="1130531" y="1413164"/>
            <a:ext cx="10374081" cy="4498058"/>
          </a:xfrm>
        </p:spPr>
        <p:txBody>
          <a:bodyPr>
            <a:normAutofit/>
          </a:bodyPr>
          <a:lstStyle/>
          <a:p>
            <a:r>
              <a:rPr lang="en-US" dirty="0"/>
              <a:t>It refers to the proportion of correct positive predictions (True Positives) out of all the positive predictions made by the model (True Positives + False Positives). It is a measure of the accuracy of the positive predictions. The formula for Precision is:</a:t>
            </a:r>
          </a:p>
          <a:p>
            <a:r>
              <a:rPr lang="en-IN" dirty="0"/>
              <a:t>Precision=True </a:t>
            </a:r>
            <a:r>
              <a:rPr lang="en-IN" dirty="0" smtClean="0"/>
              <a:t>Positives/False</a:t>
            </a:r>
            <a:r>
              <a:rPr lang="en-IN" dirty="0"/>
              <a:t> </a:t>
            </a:r>
            <a:r>
              <a:rPr lang="en-IN" dirty="0" err="1"/>
              <a:t>Positives+True</a:t>
            </a:r>
            <a:r>
              <a:rPr lang="en-IN" dirty="0"/>
              <a:t> Positives​</a:t>
            </a:r>
            <a:br>
              <a:rPr lang="en-IN" dirty="0"/>
            </a:br>
            <a:r>
              <a:rPr lang="en-IN" dirty="0" smtClean="0"/>
              <a:t>                        </a:t>
            </a:r>
            <a:endParaRPr lang="en-US" dirty="0"/>
          </a:p>
          <a:p>
            <a:r>
              <a:rPr lang="en-US" dirty="0" smtClean="0"/>
              <a:t> </a:t>
            </a:r>
            <a:endParaRPr lang="en-US" dirty="0"/>
          </a:p>
          <a:p>
            <a:endParaRPr lang="en-US" dirty="0"/>
          </a:p>
          <a:p>
            <a:r>
              <a:rPr lang="en-US" dirty="0"/>
              <a:t>For example, if there are 10 positive cases and 5 negative cases. The model can identify 5 positive cases. But out of these 5 identified cases only 4 are positive and 1 is negative. Thus precision becomes 80% (4/5).</a:t>
            </a:r>
            <a:endParaRPr lang="en-IN" dirty="0"/>
          </a:p>
        </p:txBody>
      </p:sp>
    </p:spTree>
    <p:extLst>
      <p:ext uri="{BB962C8B-B14F-4D97-AF65-F5344CB8AC3E}">
        <p14:creationId xmlns:p14="http://schemas.microsoft.com/office/powerpoint/2010/main" val="146717418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92925" y="624110"/>
            <a:ext cx="8911687" cy="597861"/>
          </a:xfrm>
        </p:spPr>
        <p:txBody>
          <a:bodyPr>
            <a:normAutofit fontScale="90000"/>
          </a:bodyPr>
          <a:lstStyle/>
          <a:p>
            <a:r>
              <a:rPr lang="en-IN" dirty="0"/>
              <a:t>2. Recall:</a:t>
            </a:r>
          </a:p>
        </p:txBody>
      </p:sp>
      <p:sp>
        <p:nvSpPr>
          <p:cNvPr id="3" name="Content Placeholder 2"/>
          <p:cNvSpPr>
            <a:spLocks noGrp="1"/>
          </p:cNvSpPr>
          <p:nvPr>
            <p:ph idx="1"/>
          </p:nvPr>
        </p:nvSpPr>
        <p:spPr>
          <a:xfrm>
            <a:off x="2589212" y="1753985"/>
            <a:ext cx="8915400" cy="4157237"/>
          </a:xfrm>
        </p:spPr>
        <p:txBody>
          <a:bodyPr/>
          <a:lstStyle/>
          <a:p>
            <a:r>
              <a:rPr lang="en-US" dirty="0"/>
              <a:t>It is also known as Sensitivity or True Positive Rate where we measures the proportion of actual positive instances that were correctly identified by the model. It is the ratio of True Positives to the total actual positives (True Positives + False Negatives). The formula for Recall is</a:t>
            </a:r>
            <a:r>
              <a:rPr lang="en-US" dirty="0" smtClean="0"/>
              <a:t>:</a:t>
            </a:r>
          </a:p>
          <a:p>
            <a:r>
              <a:rPr lang="en-IN" dirty="0" smtClean="0"/>
              <a:t>Recall=True</a:t>
            </a:r>
            <a:r>
              <a:rPr lang="en-IN" dirty="0"/>
              <a:t> Positives+False NegativesTrue Positives</a:t>
            </a:r>
            <a:r>
              <a:rPr lang="en-IN" dirty="0" smtClean="0"/>
              <a:t>​</a:t>
            </a:r>
          </a:p>
          <a:p>
            <a:r>
              <a:rPr lang="en-US" dirty="0"/>
              <a:t> the previous example. Although the model's precision is quite high at 80% the recall will be significantly lower. Given 10 actual positive cases the model only identified 4 positive cases correctly. Therefore the recall can be calculated as 40% (4/10).</a:t>
            </a:r>
            <a:r>
              <a:rPr lang="en-IN" dirty="0"/>
              <a:t/>
            </a:r>
            <a:br>
              <a:rPr lang="en-IN" dirty="0"/>
            </a:br>
            <a:endParaRPr lang="en-IN" dirty="0"/>
          </a:p>
        </p:txBody>
      </p:sp>
    </p:spTree>
    <p:extLst>
      <p:ext uri="{BB962C8B-B14F-4D97-AF65-F5344CB8AC3E}">
        <p14:creationId xmlns:p14="http://schemas.microsoft.com/office/powerpoint/2010/main" val="115956697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dirty="0"/>
          </a:p>
        </p:txBody>
      </p:sp>
      <p:sp>
        <p:nvSpPr>
          <p:cNvPr id="3" name="Content Placeholder 2"/>
          <p:cNvSpPr>
            <a:spLocks noGrp="1"/>
          </p:cNvSpPr>
          <p:nvPr>
            <p:ph idx="1"/>
          </p:nvPr>
        </p:nvSpPr>
        <p:spPr/>
        <p:txBody>
          <a:bodyPr/>
          <a:lstStyle/>
          <a:p>
            <a:r>
              <a:rPr lang="en-US" dirty="0"/>
              <a:t>To better understand Precision and Recall we can use a Confusion Matrix which summarizes the performance of a classifier in four essential terms:</a:t>
            </a:r>
          </a:p>
          <a:p>
            <a:endParaRPr lang="en-US" dirty="0"/>
          </a:p>
          <a:p>
            <a:r>
              <a:rPr lang="en-US" dirty="0"/>
              <a:t>True Positives (TP): Correctly predicted positive instances.</a:t>
            </a:r>
          </a:p>
          <a:p>
            <a:r>
              <a:rPr lang="en-US" dirty="0"/>
              <a:t>False Positives (FP): Incorrectly predicted positive instances.</a:t>
            </a:r>
          </a:p>
          <a:p>
            <a:r>
              <a:rPr lang="en-US" dirty="0"/>
              <a:t>True Negatives (TN): Correctly predicted negative instances.</a:t>
            </a:r>
          </a:p>
          <a:p>
            <a:r>
              <a:rPr lang="en-US" dirty="0"/>
              <a:t>False Negatives (FN): Incorrectly predicted negative instances.</a:t>
            </a:r>
            <a:endParaRPr lang="en-IN" dirty="0"/>
          </a:p>
        </p:txBody>
      </p:sp>
    </p:spTree>
    <p:extLst>
      <p:ext uri="{BB962C8B-B14F-4D97-AF65-F5344CB8AC3E}">
        <p14:creationId xmlns:p14="http://schemas.microsoft.com/office/powerpoint/2010/main" val="221040496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92925" y="624110"/>
            <a:ext cx="8911687" cy="822305"/>
          </a:xfrm>
        </p:spPr>
        <p:txBody>
          <a:bodyPr>
            <a:normAutofit fontScale="90000"/>
          </a:bodyPr>
          <a:lstStyle/>
          <a:p>
            <a:r>
              <a:rPr lang="en-US" dirty="0"/>
              <a:t>F1 Score by combining Precision and Recall</a:t>
            </a:r>
            <a:endParaRPr lang="en-IN" dirty="0"/>
          </a:p>
        </p:txBody>
      </p:sp>
      <p:sp>
        <p:nvSpPr>
          <p:cNvPr id="3" name="Content Placeholder 2"/>
          <p:cNvSpPr>
            <a:spLocks noGrp="1"/>
          </p:cNvSpPr>
          <p:nvPr>
            <p:ph idx="1"/>
          </p:nvPr>
        </p:nvSpPr>
        <p:spPr/>
        <p:txBody>
          <a:bodyPr/>
          <a:lstStyle/>
          <a:p>
            <a:pPr fontAlgn="base"/>
            <a:r>
              <a:rPr lang="en-US" dirty="0"/>
              <a:t>F1 Score combines precision and recall using the harmonic mean:</a:t>
            </a:r>
          </a:p>
          <a:p>
            <a:pPr fontAlgn="base"/>
            <a:r>
              <a:rPr lang="en-US" dirty="0"/>
              <a:t>F1 Score=2×Precision×RecallPrecision+Recall</a:t>
            </a:r>
            <a:r>
              <a:rPr lang="en-US" i="1" dirty="0"/>
              <a:t>F</a:t>
            </a:r>
            <a:r>
              <a:rPr lang="en-US" dirty="0"/>
              <a:t>1​ Score=2×Precision+RecallPrecision×Recall​</a:t>
            </a:r>
          </a:p>
          <a:p>
            <a:pPr fontAlgn="base"/>
            <a:r>
              <a:rPr lang="en-US" dirty="0"/>
              <a:t>This formula ensures that both precision and recall must be high for the F1 score to be high. If either one drops significantly the F1 score will also drop.</a:t>
            </a:r>
          </a:p>
          <a:p>
            <a:endParaRPr lang="en-IN" dirty="0"/>
          </a:p>
        </p:txBody>
      </p:sp>
    </p:spTree>
    <p:extLst>
      <p:ext uri="{BB962C8B-B14F-4D97-AF65-F5344CB8AC3E}">
        <p14:creationId xmlns:p14="http://schemas.microsoft.com/office/powerpoint/2010/main" val="189534096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92925" y="624110"/>
            <a:ext cx="8911687" cy="564610"/>
          </a:xfrm>
        </p:spPr>
        <p:txBody>
          <a:bodyPr>
            <a:normAutofit fontScale="90000"/>
          </a:bodyPr>
          <a:lstStyle/>
          <a:p>
            <a:r>
              <a:rPr lang="en-IN" dirty="0"/>
              <a:t>1. Binary Classification</a:t>
            </a:r>
          </a:p>
        </p:txBody>
      </p:sp>
      <p:sp>
        <p:nvSpPr>
          <p:cNvPr id="3" name="Content Placeholder 2"/>
          <p:cNvSpPr>
            <a:spLocks noGrp="1"/>
          </p:cNvSpPr>
          <p:nvPr>
            <p:ph idx="1"/>
          </p:nvPr>
        </p:nvSpPr>
        <p:spPr>
          <a:xfrm>
            <a:off x="2589212" y="2133600"/>
            <a:ext cx="8915400" cy="2878975"/>
          </a:xfrm>
        </p:spPr>
        <p:txBody>
          <a:bodyPr/>
          <a:lstStyle/>
          <a:p>
            <a:r>
              <a:rPr lang="en-US" dirty="0"/>
              <a:t>In binary classification where there are only two classes (positive and negative) the F1 score can be computed from the confusion matrix that helps calculate metrics such as precision, recall and the F1 score.</a:t>
            </a:r>
          </a:p>
          <a:p>
            <a:endParaRPr lang="en-US" dirty="0"/>
          </a:p>
          <a:p>
            <a:r>
              <a:rPr lang="en-US" dirty="0"/>
              <a:t>Let's take an example of a dataset with 100 total cases. Out of these 90 are positive and 10 are negative cases. The model predicted 85 positive cases out of which 80 are actual positive and 5 are from actual negative cases. The confusion matrix would look like:</a:t>
            </a:r>
            <a:endParaRPr lang="en-IN" dirty="0"/>
          </a:p>
        </p:txBody>
      </p:sp>
    </p:spTree>
    <p:extLst>
      <p:ext uri="{BB962C8B-B14F-4D97-AF65-F5344CB8AC3E}">
        <p14:creationId xmlns:p14="http://schemas.microsoft.com/office/powerpoint/2010/main" val="290606329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E</a:t>
            </a:r>
            <a:r>
              <a:rPr lang="en-IN" dirty="0" smtClean="0"/>
              <a:t>xample</a:t>
            </a:r>
            <a:endParaRPr lang="en-IN" dirty="0"/>
          </a:p>
        </p:txBody>
      </p:sp>
      <p:graphicFrame>
        <p:nvGraphicFramePr>
          <p:cNvPr id="4" name="Content Placeholder 3"/>
          <p:cNvGraphicFramePr>
            <a:graphicFrameLocks noGrp="1"/>
          </p:cNvGraphicFramePr>
          <p:nvPr>
            <p:ph idx="1"/>
          </p:nvPr>
        </p:nvGraphicFramePr>
        <p:xfrm>
          <a:off x="2879725" y="2385206"/>
          <a:ext cx="8334375" cy="3275038"/>
        </p:xfrm>
        <a:graphic>
          <a:graphicData uri="http://schemas.openxmlformats.org/drawingml/2006/table">
            <a:tbl>
              <a:tblPr/>
              <a:tblGrid>
                <a:gridCol w="1666875"/>
                <a:gridCol w="1666875"/>
                <a:gridCol w="1666875"/>
                <a:gridCol w="1666875"/>
                <a:gridCol w="1666875"/>
              </a:tblGrid>
              <a:tr h="0">
                <a:tc>
                  <a:txBody>
                    <a:bodyPr/>
                    <a:lstStyle/>
                    <a:p>
                      <a:pPr algn="ctr" rtl="0" fontAlgn="base"/>
                      <a:r>
                        <a:rPr lang="en-IN" sz="1400" b="1">
                          <a:effectLst/>
                        </a:rPr>
                        <a:t>Example</a:t>
                      </a:r>
                    </a:p>
                  </a:txBody>
                  <a:tcPr marL="38100" marR="38100" marT="95250" marB="95250"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9F9F9"/>
                    </a:solidFill>
                  </a:tcPr>
                </a:tc>
                <a:tc gridSpan="2">
                  <a:txBody>
                    <a:bodyPr/>
                    <a:lstStyle/>
                    <a:p>
                      <a:pPr algn="ctr" rtl="0" fontAlgn="base"/>
                      <a:r>
                        <a:rPr lang="en-IN" sz="1400" b="1">
                          <a:effectLst/>
                        </a:rPr>
                        <a:t>Actual</a:t>
                      </a:r>
                    </a:p>
                  </a:txBody>
                  <a:tcPr marL="95250" marR="95250" marT="95250" marB="95250"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9F9F9"/>
                    </a:solidFill>
                  </a:tcPr>
                </a:tc>
                <a:tc hMerge="1">
                  <a:txBody>
                    <a:bodyPr/>
                    <a:lstStyle/>
                    <a:p>
                      <a:endParaRPr lang="en-IN"/>
                    </a:p>
                  </a:txBody>
                  <a:tcPr/>
                </a:tc>
                <a:tc>
                  <a:txBody>
                    <a:bodyPr/>
                    <a:lstStyle/>
                    <a:p>
                      <a:pPr algn="ctr" rtl="0" fontAlgn="base"/>
                      <a:r>
                        <a:rPr lang="en-IN" sz="1400" b="1">
                          <a:effectLst/>
                        </a:rPr>
                        <a:t>Total</a:t>
                      </a:r>
                    </a:p>
                  </a:txBody>
                  <a:tcPr marL="95250" marR="95250" marT="95250" marB="95250"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9F9F9"/>
                    </a:solidFill>
                  </a:tcPr>
                </a:tc>
                <a:tc>
                  <a:txBody>
                    <a:bodyPr/>
                    <a:lstStyle/>
                    <a:p>
                      <a:pPr algn="ctr" rtl="0" fontAlgn="base"/>
                      <a:r>
                        <a:rPr lang="en-IN" sz="1400" b="1">
                          <a:effectLst/>
                        </a:rPr>
                        <a:t/>
                      </a:r>
                      <a:br>
                        <a:rPr lang="en-IN" sz="1400" b="1">
                          <a:effectLst/>
                        </a:rPr>
                      </a:br>
                      <a:endParaRPr lang="en-IN" sz="1400" b="1">
                        <a:effectLst/>
                      </a:endParaRPr>
                    </a:p>
                  </a:txBody>
                  <a:tcPr marL="95250" marR="95250" marT="95250" marB="95250"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9F9F9"/>
                    </a:solidFill>
                  </a:tcPr>
                </a:tc>
              </a:tr>
              <a:tr h="0">
                <a:tc rowSpan="2">
                  <a:txBody>
                    <a:bodyPr/>
                    <a:lstStyle/>
                    <a:p>
                      <a:pPr algn="ctr" rtl="0" fontAlgn="base"/>
                      <a:r>
                        <a:rPr lang="en-IN" b="1">
                          <a:effectLst/>
                        </a:rPr>
                        <a:t/>
                      </a:r>
                      <a:br>
                        <a:rPr lang="en-IN" b="1">
                          <a:effectLst/>
                        </a:rPr>
                      </a:br>
                      <a:endParaRPr lang="en-IN" b="1">
                        <a:effectLst/>
                      </a:endParaRPr>
                    </a:p>
                    <a:p>
                      <a:pPr algn="ctr" rtl="0" fontAlgn="base"/>
                      <a:r>
                        <a:rPr lang="en-IN" b="1">
                          <a:effectLst/>
                        </a:rPr>
                        <a:t>Model Prediction</a:t>
                      </a:r>
                    </a:p>
                  </a:txBody>
                  <a:tcPr marL="38100" marR="38100" marT="83039" marB="83039"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9F9F9"/>
                    </a:solidFill>
                  </a:tcPr>
                </a:tc>
                <a:tc>
                  <a:txBody>
                    <a:bodyPr/>
                    <a:lstStyle/>
                    <a:p>
                      <a:pPr algn="ctr" fontAlgn="base"/>
                      <a:r>
                        <a:rPr lang="en-IN" sz="1250" b="0">
                          <a:effectLst/>
                        </a:rPr>
                        <a:t>80</a:t>
                      </a:r>
                    </a:p>
                  </a:txBody>
                  <a:tcPr marL="95250" marR="95250" marT="133350" marB="133350"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tc>
                  <a:txBody>
                    <a:bodyPr/>
                    <a:lstStyle/>
                    <a:p>
                      <a:pPr algn="ctr" fontAlgn="base"/>
                      <a:r>
                        <a:rPr lang="en-IN" sz="1250" b="0">
                          <a:effectLst/>
                        </a:rPr>
                        <a:t>5</a:t>
                      </a:r>
                    </a:p>
                  </a:txBody>
                  <a:tcPr marL="95250" marR="95250" marT="133350" marB="133350"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tc>
                  <a:txBody>
                    <a:bodyPr/>
                    <a:lstStyle/>
                    <a:p>
                      <a:pPr algn="ctr" fontAlgn="base"/>
                      <a:r>
                        <a:rPr lang="en-IN" sz="1250" b="0">
                          <a:effectLst/>
                        </a:rPr>
                        <a:t>85</a:t>
                      </a:r>
                    </a:p>
                  </a:txBody>
                  <a:tcPr marL="95250" marR="95250" marT="133350" marB="133350"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tc>
                  <a:txBody>
                    <a:bodyPr/>
                    <a:lstStyle/>
                    <a:p>
                      <a:pPr algn="ctr" rtl="0" fontAlgn="base"/>
                      <a:r>
                        <a:rPr lang="en-IN" sz="1250" b="0">
                          <a:effectLst/>
                        </a:rPr>
                        <a:t>Precision = (80/85) = 0.94</a:t>
                      </a:r>
                    </a:p>
                  </a:txBody>
                  <a:tcPr marL="95250" marR="95250" marT="133350" marB="133350"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tr>
              <a:tr h="0">
                <a:tc vMerge="1">
                  <a:txBody>
                    <a:bodyPr/>
                    <a:lstStyle/>
                    <a:p>
                      <a:endParaRPr lang="en-IN"/>
                    </a:p>
                  </a:txBody>
                  <a:tcPr/>
                </a:tc>
                <a:tc>
                  <a:txBody>
                    <a:bodyPr/>
                    <a:lstStyle/>
                    <a:p>
                      <a:pPr algn="ctr" fontAlgn="base"/>
                      <a:r>
                        <a:rPr lang="en-IN" sz="1250" b="0">
                          <a:effectLst/>
                        </a:rPr>
                        <a:t>10</a:t>
                      </a:r>
                    </a:p>
                  </a:txBody>
                  <a:tcPr marL="95250" marR="95250" marT="133350" marB="133350"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tc>
                  <a:txBody>
                    <a:bodyPr/>
                    <a:lstStyle/>
                    <a:p>
                      <a:pPr algn="ctr" fontAlgn="base"/>
                      <a:r>
                        <a:rPr lang="en-IN" sz="1250" b="0">
                          <a:effectLst/>
                        </a:rPr>
                        <a:t>5</a:t>
                      </a:r>
                    </a:p>
                  </a:txBody>
                  <a:tcPr marL="95250" marR="95250" marT="133350" marB="133350"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tc>
                  <a:txBody>
                    <a:bodyPr/>
                    <a:lstStyle/>
                    <a:p>
                      <a:pPr algn="ctr" fontAlgn="base"/>
                      <a:r>
                        <a:rPr lang="en-IN" sz="1250" b="0">
                          <a:effectLst/>
                        </a:rPr>
                        <a:t>15</a:t>
                      </a:r>
                    </a:p>
                  </a:txBody>
                  <a:tcPr marL="95250" marR="95250" marT="133350" marB="133350"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tc>
                  <a:txBody>
                    <a:bodyPr/>
                    <a:lstStyle/>
                    <a:p>
                      <a:pPr algn="ctr" fontAlgn="base"/>
                      <a:r>
                        <a:rPr lang="en-IN" sz="1250" b="0">
                          <a:effectLst/>
                        </a:rPr>
                        <a:t/>
                      </a:r>
                      <a:br>
                        <a:rPr lang="en-IN" sz="1250" b="0">
                          <a:effectLst/>
                        </a:rPr>
                      </a:br>
                      <a:endParaRPr lang="en-IN" sz="1250" b="0">
                        <a:effectLst/>
                      </a:endParaRPr>
                    </a:p>
                  </a:txBody>
                  <a:tcPr marL="95250" marR="95250" marT="133350" marB="133350"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tr>
              <a:tr h="0">
                <a:tc>
                  <a:txBody>
                    <a:bodyPr/>
                    <a:lstStyle/>
                    <a:p>
                      <a:pPr algn="ctr" rtl="0" fontAlgn="base"/>
                      <a:r>
                        <a:rPr lang="en-IN" b="1">
                          <a:effectLst/>
                        </a:rPr>
                        <a:t>Total</a:t>
                      </a:r>
                    </a:p>
                  </a:txBody>
                  <a:tcPr marL="38100" marR="38100" marT="83039" marB="83039"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9F9F9"/>
                    </a:solidFill>
                  </a:tcPr>
                </a:tc>
                <a:tc>
                  <a:txBody>
                    <a:bodyPr/>
                    <a:lstStyle/>
                    <a:p>
                      <a:pPr algn="ctr" fontAlgn="base"/>
                      <a:r>
                        <a:rPr lang="en-IN" sz="1250" b="0">
                          <a:effectLst/>
                        </a:rPr>
                        <a:t>90</a:t>
                      </a:r>
                    </a:p>
                  </a:txBody>
                  <a:tcPr marL="95250" marR="95250" marT="133350" marB="133350"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tc>
                  <a:txBody>
                    <a:bodyPr/>
                    <a:lstStyle/>
                    <a:p>
                      <a:pPr algn="ctr" fontAlgn="base"/>
                      <a:r>
                        <a:rPr lang="en-IN" sz="1250" b="0">
                          <a:effectLst/>
                        </a:rPr>
                        <a:t>10</a:t>
                      </a:r>
                    </a:p>
                  </a:txBody>
                  <a:tcPr marL="95250" marR="95250" marT="133350" marB="133350"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tc>
                  <a:txBody>
                    <a:bodyPr/>
                    <a:lstStyle/>
                    <a:p>
                      <a:pPr algn="ctr" fontAlgn="base"/>
                      <a:r>
                        <a:rPr lang="en-IN" sz="1250" b="0">
                          <a:effectLst/>
                        </a:rPr>
                        <a:t>100</a:t>
                      </a:r>
                    </a:p>
                  </a:txBody>
                  <a:tcPr marL="95250" marR="95250" marT="133350" marB="133350"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tc>
                  <a:txBody>
                    <a:bodyPr/>
                    <a:lstStyle/>
                    <a:p>
                      <a:pPr algn="ctr" fontAlgn="base"/>
                      <a:r>
                        <a:rPr lang="en-IN" sz="1250" b="0">
                          <a:effectLst/>
                        </a:rPr>
                        <a:t/>
                      </a:r>
                      <a:br>
                        <a:rPr lang="en-IN" sz="1250" b="0">
                          <a:effectLst/>
                        </a:rPr>
                      </a:br>
                      <a:endParaRPr lang="en-IN" sz="1250" b="0">
                        <a:effectLst/>
                      </a:endParaRPr>
                    </a:p>
                  </a:txBody>
                  <a:tcPr marL="95250" marR="95250" marT="133350" marB="133350"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tr>
              <a:tr h="0">
                <a:tc>
                  <a:txBody>
                    <a:bodyPr/>
                    <a:lstStyle/>
                    <a:p>
                      <a:pPr algn="ctr" fontAlgn="base"/>
                      <a:r>
                        <a:rPr lang="en-IN" b="1">
                          <a:effectLst/>
                        </a:rPr>
                        <a:t/>
                      </a:r>
                      <a:br>
                        <a:rPr lang="en-IN" b="1">
                          <a:effectLst/>
                        </a:rPr>
                      </a:br>
                      <a:endParaRPr lang="en-IN" b="1">
                        <a:effectLst/>
                      </a:endParaRPr>
                    </a:p>
                  </a:txBody>
                  <a:tcPr marL="38100" marR="38100" marT="83039" marB="83039"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9F9F9"/>
                    </a:solidFill>
                  </a:tcPr>
                </a:tc>
                <a:tc>
                  <a:txBody>
                    <a:bodyPr/>
                    <a:lstStyle/>
                    <a:p>
                      <a:pPr algn="ctr" rtl="0" fontAlgn="base"/>
                      <a:r>
                        <a:rPr lang="en-IN" sz="1250" b="0">
                          <a:effectLst/>
                        </a:rPr>
                        <a:t>Recall = (80/90) = 0.88</a:t>
                      </a:r>
                    </a:p>
                  </a:txBody>
                  <a:tcPr marL="95250" marR="95250" marT="133350" marB="133350"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tc>
                  <a:txBody>
                    <a:bodyPr/>
                    <a:lstStyle/>
                    <a:p>
                      <a:pPr algn="ctr" rtl="0" fontAlgn="base"/>
                      <a:r>
                        <a:rPr lang="en-IN" sz="1250" b="0">
                          <a:effectLst/>
                        </a:rPr>
                        <a:t/>
                      </a:r>
                      <a:br>
                        <a:rPr lang="en-IN" sz="1250" b="0">
                          <a:effectLst/>
                        </a:rPr>
                      </a:br>
                      <a:endParaRPr lang="en-IN" sz="1250" b="0">
                        <a:effectLst/>
                      </a:endParaRPr>
                    </a:p>
                  </a:txBody>
                  <a:tcPr marL="95250" marR="95250" marT="133350" marB="133350"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tc>
                  <a:txBody>
                    <a:bodyPr/>
                    <a:lstStyle/>
                    <a:p>
                      <a:pPr algn="ctr" rtl="0" fontAlgn="base"/>
                      <a:r>
                        <a:rPr lang="en-IN" sz="1250" b="0">
                          <a:effectLst/>
                        </a:rPr>
                        <a:t>Accuracy = (80+5)/100 = 85%</a:t>
                      </a:r>
                    </a:p>
                  </a:txBody>
                  <a:tcPr marL="95250" marR="95250" marT="133350" marB="133350"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tc>
                  <a:txBody>
                    <a:bodyPr/>
                    <a:lstStyle/>
                    <a:p>
                      <a:pPr algn="ctr" rtl="0" fontAlgn="base"/>
                      <a:r>
                        <a:rPr lang="en-IN" sz="1250" b="0" dirty="0">
                          <a:effectLst/>
                        </a:rPr>
                        <a:t>F1 = 0.91</a:t>
                      </a:r>
                    </a:p>
                  </a:txBody>
                  <a:tcPr marL="95250" marR="95250" marT="133350" marB="133350"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tr>
            </a:tbl>
          </a:graphicData>
        </a:graphic>
      </p:graphicFrame>
    </p:spTree>
    <p:extLst>
      <p:ext uri="{BB962C8B-B14F-4D97-AF65-F5344CB8AC3E}">
        <p14:creationId xmlns:p14="http://schemas.microsoft.com/office/powerpoint/2010/main" val="96359616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dirty="0"/>
          </a:p>
        </p:txBody>
      </p:sp>
      <p:sp>
        <p:nvSpPr>
          <p:cNvPr id="3" name="Content Placeholder 2"/>
          <p:cNvSpPr>
            <a:spLocks noGrp="1"/>
          </p:cNvSpPr>
          <p:nvPr>
            <p:ph idx="1"/>
          </p:nvPr>
        </p:nvSpPr>
        <p:spPr>
          <a:xfrm>
            <a:off x="2589211" y="2133600"/>
            <a:ext cx="9040293" cy="4724400"/>
          </a:xfrm>
        </p:spPr>
        <p:txBody>
          <a:bodyPr/>
          <a:lstStyle/>
          <a:p>
            <a:r>
              <a:rPr lang="en-US" dirty="0"/>
              <a:t>Example 1: Consider the below case where there are only 9 cases of true positives out of a dataset of 100.</a:t>
            </a:r>
            <a:endParaRPr lang="en-IN" dirty="0"/>
          </a:p>
        </p:txBody>
      </p:sp>
      <p:graphicFrame>
        <p:nvGraphicFramePr>
          <p:cNvPr id="4" name="Table 3"/>
          <p:cNvGraphicFramePr>
            <a:graphicFrameLocks noGrp="1"/>
          </p:cNvGraphicFramePr>
          <p:nvPr/>
        </p:nvGraphicFramePr>
        <p:xfrm>
          <a:off x="2879730" y="3082290"/>
          <a:ext cx="8334366" cy="1988820"/>
        </p:xfrm>
        <a:graphic>
          <a:graphicData uri="http://schemas.openxmlformats.org/drawingml/2006/table">
            <a:tbl>
              <a:tblPr/>
              <a:tblGrid>
                <a:gridCol w="2222497"/>
                <a:gridCol w="2222497"/>
                <a:gridCol w="2222497"/>
                <a:gridCol w="1666875"/>
              </a:tblGrid>
              <a:tr h="0">
                <a:tc gridSpan="2">
                  <a:txBody>
                    <a:bodyPr/>
                    <a:lstStyle/>
                    <a:p>
                      <a:pPr algn="ctr" rtl="0" fontAlgn="base"/>
                      <a:r>
                        <a:rPr lang="en-IN" sz="1400" b="1">
                          <a:effectLst/>
                        </a:rPr>
                        <a:t/>
                      </a:r>
                      <a:br>
                        <a:rPr lang="en-IN" sz="1400" b="1">
                          <a:effectLst/>
                        </a:rPr>
                      </a:br>
                      <a:r>
                        <a:rPr lang="en-IN" sz="1400" b="1">
                          <a:effectLst/>
                        </a:rPr>
                        <a:t>Actual</a:t>
                      </a:r>
                    </a:p>
                  </a:txBody>
                  <a:tcPr marL="95250" marR="95250" marT="95250" marB="95250"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9F9F9"/>
                    </a:solidFill>
                  </a:tcPr>
                </a:tc>
                <a:tc hMerge="1">
                  <a:txBody>
                    <a:bodyPr/>
                    <a:lstStyle/>
                    <a:p>
                      <a:endParaRPr lang="en-IN"/>
                    </a:p>
                  </a:txBody>
                  <a:tcPr/>
                </a:tc>
                <a:tc>
                  <a:txBody>
                    <a:bodyPr/>
                    <a:lstStyle/>
                    <a:p>
                      <a:pPr algn="ctr" rtl="0" fontAlgn="base"/>
                      <a:r>
                        <a:rPr lang="en-IN" sz="1400" b="1">
                          <a:effectLst/>
                        </a:rPr>
                        <a:t>Total</a:t>
                      </a:r>
                    </a:p>
                  </a:txBody>
                  <a:tcPr marL="95250" marR="95250" marT="95250" marB="95250"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9F9F9"/>
                    </a:solidFill>
                  </a:tcPr>
                </a:tc>
                <a:tc>
                  <a:txBody>
                    <a:bodyPr/>
                    <a:lstStyle/>
                    <a:p>
                      <a:endParaRPr lang="en-IN"/>
                    </a:p>
                  </a:txBody>
                  <a:tcPr>
                    <a:lnL w="2858" cap="flat" cmpd="sng" algn="ctr">
                      <a:solidFill>
                        <a:srgbClr val="DFDFDF"/>
                      </a:solidFill>
                      <a:prstDash val="solid"/>
                      <a:round/>
                      <a:headEnd type="none" w="med" len="med"/>
                      <a:tailEnd type="none" w="med" len="med"/>
                    </a:lnL>
                    <a:lnB w="2858" cap="flat" cmpd="sng" algn="ctr">
                      <a:solidFill>
                        <a:srgbClr val="DFDFDF"/>
                      </a:solidFill>
                      <a:prstDash val="solid"/>
                      <a:round/>
                      <a:headEnd type="none" w="med" len="med"/>
                      <a:tailEnd type="none" w="med" len="med"/>
                    </a:lnB>
                  </a:tcPr>
                </a:tc>
              </a:tr>
              <a:tr h="0">
                <a:tc rowSpan="2">
                  <a:txBody>
                    <a:bodyPr/>
                    <a:lstStyle/>
                    <a:p>
                      <a:pPr algn="ctr" rtl="0" fontAlgn="base"/>
                      <a:r>
                        <a:rPr lang="en-IN" b="1">
                          <a:effectLst/>
                        </a:rPr>
                        <a:t>Model Prediction</a:t>
                      </a:r>
                    </a:p>
                  </a:txBody>
                  <a:tcPr marL="38100" marR="38100" marT="88697" marB="88697"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9F9F9"/>
                    </a:solidFill>
                  </a:tcPr>
                </a:tc>
                <a:tc>
                  <a:txBody>
                    <a:bodyPr/>
                    <a:lstStyle/>
                    <a:p>
                      <a:pPr algn="ctr" fontAlgn="base"/>
                      <a:r>
                        <a:rPr lang="en-IN" sz="1250" b="0">
                          <a:effectLst/>
                        </a:rPr>
                        <a:t>1</a:t>
                      </a:r>
                    </a:p>
                  </a:txBody>
                  <a:tcPr marL="95250" marR="95250" marT="133350" marB="133350"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tc>
                  <a:txBody>
                    <a:bodyPr/>
                    <a:lstStyle/>
                    <a:p>
                      <a:pPr algn="ctr" fontAlgn="base"/>
                      <a:r>
                        <a:rPr lang="en-IN" sz="1250" b="0">
                          <a:effectLst/>
                        </a:rPr>
                        <a:t>1</a:t>
                      </a:r>
                    </a:p>
                  </a:txBody>
                  <a:tcPr marL="95250" marR="95250" marT="133350" marB="133350"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tc>
                  <a:txBody>
                    <a:bodyPr/>
                    <a:lstStyle/>
                    <a:p>
                      <a:pPr algn="ctr" fontAlgn="base"/>
                      <a:r>
                        <a:rPr lang="en-IN" sz="1250" b="0">
                          <a:effectLst/>
                        </a:rPr>
                        <a:t>2</a:t>
                      </a:r>
                    </a:p>
                  </a:txBody>
                  <a:tcPr marL="95250" marR="95250" marT="133350" marB="133350"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tr>
              <a:tr h="0">
                <a:tc vMerge="1">
                  <a:txBody>
                    <a:bodyPr/>
                    <a:lstStyle/>
                    <a:p>
                      <a:endParaRPr lang="en-IN"/>
                    </a:p>
                  </a:txBody>
                  <a:tcPr/>
                </a:tc>
                <a:tc>
                  <a:txBody>
                    <a:bodyPr/>
                    <a:lstStyle/>
                    <a:p>
                      <a:pPr algn="ctr" fontAlgn="base"/>
                      <a:r>
                        <a:rPr lang="en-IN" sz="1250" b="0">
                          <a:effectLst/>
                        </a:rPr>
                        <a:t>8</a:t>
                      </a:r>
                    </a:p>
                  </a:txBody>
                  <a:tcPr marL="95250" marR="95250" marT="133350" marB="133350"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tc>
                  <a:txBody>
                    <a:bodyPr/>
                    <a:lstStyle/>
                    <a:p>
                      <a:pPr algn="ctr" fontAlgn="base"/>
                      <a:r>
                        <a:rPr lang="en-IN" sz="1250" b="0">
                          <a:effectLst/>
                        </a:rPr>
                        <a:t>90</a:t>
                      </a:r>
                    </a:p>
                  </a:txBody>
                  <a:tcPr marL="95250" marR="95250" marT="133350" marB="133350"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tc>
                  <a:txBody>
                    <a:bodyPr/>
                    <a:lstStyle/>
                    <a:p>
                      <a:pPr algn="ctr" fontAlgn="base"/>
                      <a:r>
                        <a:rPr lang="en-IN" sz="1250" b="0">
                          <a:effectLst/>
                        </a:rPr>
                        <a:t>98</a:t>
                      </a:r>
                    </a:p>
                  </a:txBody>
                  <a:tcPr marL="95250" marR="95250" marT="133350" marB="133350"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tr>
              <a:tr h="0">
                <a:tc>
                  <a:txBody>
                    <a:bodyPr/>
                    <a:lstStyle/>
                    <a:p>
                      <a:pPr algn="ctr" rtl="0" fontAlgn="base"/>
                      <a:r>
                        <a:rPr lang="en-IN" b="1">
                          <a:effectLst/>
                        </a:rPr>
                        <a:t>Total</a:t>
                      </a:r>
                    </a:p>
                  </a:txBody>
                  <a:tcPr marL="38100" marR="38100" marT="88697" marB="88697"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9F9F9"/>
                    </a:solidFill>
                  </a:tcPr>
                </a:tc>
                <a:tc>
                  <a:txBody>
                    <a:bodyPr/>
                    <a:lstStyle/>
                    <a:p>
                      <a:pPr algn="ctr" fontAlgn="base"/>
                      <a:r>
                        <a:rPr lang="en-IN" sz="1250" b="0">
                          <a:effectLst/>
                        </a:rPr>
                        <a:t>9</a:t>
                      </a:r>
                    </a:p>
                  </a:txBody>
                  <a:tcPr marL="95250" marR="95250" marT="133350" marB="133350"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tc>
                  <a:txBody>
                    <a:bodyPr/>
                    <a:lstStyle/>
                    <a:p>
                      <a:pPr algn="ctr" fontAlgn="base"/>
                      <a:r>
                        <a:rPr lang="en-IN" sz="1250" b="0">
                          <a:effectLst/>
                        </a:rPr>
                        <a:t>91</a:t>
                      </a:r>
                    </a:p>
                  </a:txBody>
                  <a:tcPr marL="95250" marR="95250" marT="133350" marB="133350"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tc>
                  <a:txBody>
                    <a:bodyPr/>
                    <a:lstStyle/>
                    <a:p>
                      <a:pPr algn="ctr" fontAlgn="base"/>
                      <a:r>
                        <a:rPr lang="en-IN" sz="1250" b="0" dirty="0">
                          <a:effectLst/>
                        </a:rPr>
                        <a:t>100</a:t>
                      </a:r>
                    </a:p>
                  </a:txBody>
                  <a:tcPr marL="95250" marR="95250" marT="133350" marB="133350"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tr>
            </a:tbl>
          </a:graphicData>
        </a:graphic>
      </p:graphicFrame>
      <p:pic>
        <p:nvPicPr>
          <p:cNvPr id="6" name="Picture 5"/>
          <p:cNvPicPr>
            <a:picLocks noChangeAspect="1"/>
          </p:cNvPicPr>
          <p:nvPr/>
        </p:nvPicPr>
        <p:blipFill>
          <a:blip r:embed="rId2"/>
          <a:stretch>
            <a:fillRect/>
          </a:stretch>
        </p:blipFill>
        <p:spPr>
          <a:xfrm>
            <a:off x="5191521" y="5411822"/>
            <a:ext cx="1243692" cy="938865"/>
          </a:xfrm>
          <a:prstGeom prst="rect">
            <a:avLst/>
          </a:prstGeom>
        </p:spPr>
      </p:pic>
    </p:spTree>
    <p:extLst>
      <p:ext uri="{BB962C8B-B14F-4D97-AF65-F5344CB8AC3E}">
        <p14:creationId xmlns:p14="http://schemas.microsoft.com/office/powerpoint/2010/main" val="418491136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r>
              <a:rPr lang="en-US" dirty="0"/>
              <a:t>case if we give importance to accuracy over model will predict everything as negative. This gives us an accuracy of 91 %. However our F1 score is low.</a:t>
            </a:r>
            <a:endParaRPr lang="en-IN" dirty="0"/>
          </a:p>
        </p:txBody>
      </p:sp>
    </p:spTree>
    <p:extLst>
      <p:ext uri="{BB962C8B-B14F-4D97-AF65-F5344CB8AC3E}">
        <p14:creationId xmlns:p14="http://schemas.microsoft.com/office/powerpoint/2010/main" val="403605235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92925" y="624110"/>
            <a:ext cx="8911687" cy="622799"/>
          </a:xfrm>
        </p:spPr>
        <p:txBody>
          <a:bodyPr>
            <a:normAutofit fontScale="90000"/>
          </a:bodyPr>
          <a:lstStyle/>
          <a:p>
            <a:r>
              <a:rPr lang="en-IN" dirty="0"/>
              <a:t>F1 score </a:t>
            </a:r>
          </a:p>
        </p:txBody>
      </p:sp>
      <p:sp>
        <p:nvSpPr>
          <p:cNvPr id="3" name="Content Placeholder 2"/>
          <p:cNvSpPr>
            <a:spLocks noGrp="1"/>
          </p:cNvSpPr>
          <p:nvPr>
            <p:ph idx="1"/>
          </p:nvPr>
        </p:nvSpPr>
        <p:spPr/>
        <p:txBody>
          <a:bodyPr>
            <a:normAutofit fontScale="92500" lnSpcReduction="20000"/>
          </a:bodyPr>
          <a:lstStyle/>
          <a:p>
            <a:r>
              <a:rPr lang="en-US" dirty="0"/>
              <a:t>In a multi-class classification problem where there are more than two classes we calculate the F1 score per class rather than providing a single overall F1 score for the entire model. This approach is often referred to as the one-</a:t>
            </a:r>
            <a:r>
              <a:rPr lang="en-US" dirty="0" err="1"/>
              <a:t>vs</a:t>
            </a:r>
            <a:r>
              <a:rPr lang="en-US" dirty="0"/>
              <a:t>-rest (</a:t>
            </a:r>
            <a:r>
              <a:rPr lang="en-US" dirty="0" err="1"/>
              <a:t>OvR</a:t>
            </a:r>
            <a:r>
              <a:rPr lang="en-US" dirty="0"/>
              <a:t>) or one-</a:t>
            </a:r>
            <a:r>
              <a:rPr lang="en-US" dirty="0" err="1"/>
              <a:t>vs</a:t>
            </a:r>
            <a:r>
              <a:rPr lang="en-US" dirty="0"/>
              <a:t>-all (</a:t>
            </a:r>
            <a:r>
              <a:rPr lang="en-US" dirty="0" err="1"/>
              <a:t>OvA</a:t>
            </a:r>
            <a:r>
              <a:rPr lang="en-US" dirty="0"/>
              <a:t>) strategy</a:t>
            </a:r>
            <a:r>
              <a:rPr lang="en-US" dirty="0" smtClean="0"/>
              <a:t>.</a:t>
            </a:r>
          </a:p>
          <a:p>
            <a:endParaRPr lang="en-US" dirty="0"/>
          </a:p>
          <a:p>
            <a:r>
              <a:rPr lang="en-US" dirty="0"/>
              <a:t>For each class in the multi-class problem a binary classification problem is created.</a:t>
            </a:r>
          </a:p>
          <a:p>
            <a:r>
              <a:rPr lang="en-US" dirty="0"/>
              <a:t>We treat one class as the positive class and the rest of the classes as the negative class.</a:t>
            </a:r>
          </a:p>
          <a:p>
            <a:r>
              <a:rPr lang="en-US" dirty="0"/>
              <a:t>Then we proceed to calculate the F1 score as outlined above.</a:t>
            </a:r>
          </a:p>
          <a:p>
            <a:r>
              <a:rPr lang="en-US" dirty="0"/>
              <a:t>For a specific class the true positives (TP) are the instances correctly classified as that class, false positives (FP) are instances incorrectly classified as that class and false negatives (FN) are instances of that class incorrectly classified as other classes.</a:t>
            </a:r>
            <a:endParaRPr lang="en-IN" dirty="0"/>
          </a:p>
        </p:txBody>
      </p:sp>
    </p:spTree>
    <p:extLst>
      <p:ext uri="{BB962C8B-B14F-4D97-AF65-F5344CB8AC3E}">
        <p14:creationId xmlns:p14="http://schemas.microsoft.com/office/powerpoint/2010/main" val="239254384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92925" y="624110"/>
            <a:ext cx="8911687" cy="614486"/>
          </a:xfrm>
        </p:spPr>
        <p:txBody>
          <a:bodyPr>
            <a:normAutofit fontScale="90000"/>
          </a:bodyPr>
          <a:lstStyle/>
          <a:p>
            <a:r>
              <a:rPr lang="en-US" dirty="0"/>
              <a:t>Implementing F1 Score in Python</a:t>
            </a:r>
            <a:endParaRPr lang="en-IN" dirty="0"/>
          </a:p>
        </p:txBody>
      </p:sp>
      <p:sp>
        <p:nvSpPr>
          <p:cNvPr id="3" name="Content Placeholder 2"/>
          <p:cNvSpPr>
            <a:spLocks noGrp="1"/>
          </p:cNvSpPr>
          <p:nvPr>
            <p:ph idx="1"/>
          </p:nvPr>
        </p:nvSpPr>
        <p:spPr>
          <a:xfrm>
            <a:off x="2589212" y="1737360"/>
            <a:ext cx="8915400" cy="3915295"/>
          </a:xfrm>
        </p:spPr>
        <p:txBody>
          <a:bodyPr>
            <a:normAutofit lnSpcReduction="10000"/>
          </a:bodyPr>
          <a:lstStyle/>
          <a:p>
            <a:r>
              <a:rPr lang="en-US" dirty="0"/>
              <a:t>calculate the F1 score in Python using the f1_score function from the </a:t>
            </a:r>
            <a:r>
              <a:rPr lang="en-US" dirty="0" err="1"/>
              <a:t>sklearn.metrics</a:t>
            </a:r>
            <a:r>
              <a:rPr lang="en-US" dirty="0"/>
              <a:t> module. This function supports both binary and multi-class classification.</a:t>
            </a:r>
          </a:p>
          <a:p>
            <a:r>
              <a:rPr lang="en-US" dirty="0" smtClean="0"/>
              <a:t>Here's </a:t>
            </a:r>
            <a:r>
              <a:rPr lang="en-US" dirty="0"/>
              <a:t>an explanation of the function and its parameters:</a:t>
            </a:r>
          </a:p>
          <a:p>
            <a:r>
              <a:rPr lang="en-US" dirty="0" smtClean="0"/>
              <a:t>f1_score </a:t>
            </a:r>
            <a:r>
              <a:rPr lang="en-US" dirty="0"/>
              <a:t>function takes two required parameters: </a:t>
            </a:r>
            <a:r>
              <a:rPr lang="en-US" dirty="0" err="1"/>
              <a:t>y_true</a:t>
            </a:r>
            <a:r>
              <a:rPr lang="en-US" dirty="0"/>
              <a:t> and </a:t>
            </a:r>
            <a:r>
              <a:rPr lang="en-US" dirty="0" err="1"/>
              <a:t>y_pred</a:t>
            </a:r>
            <a:r>
              <a:rPr lang="en-US" dirty="0"/>
              <a:t> along with an optional parameter average.</a:t>
            </a:r>
          </a:p>
          <a:p>
            <a:r>
              <a:rPr lang="en-US" dirty="0" err="1"/>
              <a:t>y_true</a:t>
            </a:r>
            <a:r>
              <a:rPr lang="en-US" dirty="0"/>
              <a:t>: This parameter represents the true labels for the instances, providing the actual outcomes that the model is trying to predict.</a:t>
            </a:r>
          </a:p>
          <a:p>
            <a:r>
              <a:rPr lang="en-US" dirty="0" err="1"/>
              <a:t>y_pred</a:t>
            </a:r>
            <a:r>
              <a:rPr lang="en-US" dirty="0"/>
              <a:t>: This parameter contains the predicted labels from the model indicating the model's output based on the input data.</a:t>
            </a:r>
          </a:p>
          <a:p>
            <a:r>
              <a:rPr lang="en-US" dirty="0"/>
              <a:t>average: This parameter defines the type of averaging performed on the data. It is a optional parameter.</a:t>
            </a:r>
            <a:endParaRPr lang="en-IN" dirty="0"/>
          </a:p>
        </p:txBody>
      </p:sp>
    </p:spTree>
    <p:extLst>
      <p:ext uri="{BB962C8B-B14F-4D97-AF65-F5344CB8AC3E}">
        <p14:creationId xmlns:p14="http://schemas.microsoft.com/office/powerpoint/2010/main" val="344666340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92925" y="624111"/>
            <a:ext cx="8911687" cy="498108"/>
          </a:xfrm>
        </p:spPr>
        <p:txBody>
          <a:bodyPr>
            <a:normAutofit fontScale="90000"/>
          </a:bodyPr>
          <a:lstStyle/>
          <a:p>
            <a:r>
              <a:rPr lang="en-IN" dirty="0"/>
              <a:t>from sklearn.metrics </a:t>
            </a:r>
          </a:p>
        </p:txBody>
      </p:sp>
      <p:sp>
        <p:nvSpPr>
          <p:cNvPr id="3" name="Content Placeholder 2"/>
          <p:cNvSpPr>
            <a:spLocks noGrp="1"/>
          </p:cNvSpPr>
          <p:nvPr>
            <p:ph idx="1"/>
          </p:nvPr>
        </p:nvSpPr>
        <p:spPr/>
        <p:txBody>
          <a:bodyPr>
            <a:normAutofit fontScale="62500" lnSpcReduction="20000"/>
          </a:bodyPr>
          <a:lstStyle/>
          <a:p>
            <a:r>
              <a:rPr lang="en-IN" dirty="0"/>
              <a:t>from sklearn.metrics import f1_score</a:t>
            </a:r>
          </a:p>
          <a:p>
            <a:endParaRPr lang="en-IN" dirty="0"/>
          </a:p>
          <a:p>
            <a:r>
              <a:rPr lang="en-IN" dirty="0" err="1"/>
              <a:t>y_true</a:t>
            </a:r>
            <a:r>
              <a:rPr lang="en-IN" dirty="0"/>
              <a:t> = [0, 1, 2, 2, 2, 2, 1, 0, 2, 1, 0]</a:t>
            </a:r>
          </a:p>
          <a:p>
            <a:r>
              <a:rPr lang="en-IN" dirty="0" err="1"/>
              <a:t>y_pred</a:t>
            </a:r>
            <a:r>
              <a:rPr lang="en-IN" dirty="0"/>
              <a:t> = [0, 0, 2, 2, 1, 2, 1, 0, 1, 2, 1]</a:t>
            </a:r>
          </a:p>
          <a:p>
            <a:endParaRPr lang="en-IN" dirty="0"/>
          </a:p>
          <a:p>
            <a:r>
              <a:rPr lang="en-IN" dirty="0"/>
              <a:t>f1_per_class = f1_score(</a:t>
            </a:r>
            <a:r>
              <a:rPr lang="en-IN" dirty="0" err="1"/>
              <a:t>y_true</a:t>
            </a:r>
            <a:r>
              <a:rPr lang="en-IN" dirty="0"/>
              <a:t>, </a:t>
            </a:r>
            <a:r>
              <a:rPr lang="en-IN" dirty="0" err="1"/>
              <a:t>y_pred</a:t>
            </a:r>
            <a:r>
              <a:rPr lang="en-IN" dirty="0"/>
              <a:t>, average=None)</a:t>
            </a:r>
          </a:p>
          <a:p>
            <a:r>
              <a:rPr lang="en-IN" dirty="0"/>
              <a:t>f1_micro = f1_score(</a:t>
            </a:r>
            <a:r>
              <a:rPr lang="en-IN" dirty="0" err="1"/>
              <a:t>y_true</a:t>
            </a:r>
            <a:r>
              <a:rPr lang="en-IN" dirty="0"/>
              <a:t>, </a:t>
            </a:r>
            <a:r>
              <a:rPr lang="en-IN" dirty="0" err="1"/>
              <a:t>y_pred</a:t>
            </a:r>
            <a:r>
              <a:rPr lang="en-IN" dirty="0"/>
              <a:t>, average='micro')</a:t>
            </a:r>
          </a:p>
          <a:p>
            <a:r>
              <a:rPr lang="en-IN" dirty="0"/>
              <a:t>f1_macro = f1_score(</a:t>
            </a:r>
            <a:r>
              <a:rPr lang="en-IN" dirty="0" err="1"/>
              <a:t>y_true</a:t>
            </a:r>
            <a:r>
              <a:rPr lang="en-IN" dirty="0"/>
              <a:t>, </a:t>
            </a:r>
            <a:r>
              <a:rPr lang="en-IN" dirty="0" err="1"/>
              <a:t>y_pred</a:t>
            </a:r>
            <a:r>
              <a:rPr lang="en-IN" dirty="0"/>
              <a:t>, average='macro')</a:t>
            </a:r>
          </a:p>
          <a:p>
            <a:r>
              <a:rPr lang="en-IN" dirty="0"/>
              <a:t>f1_weighted = f1_score(</a:t>
            </a:r>
            <a:r>
              <a:rPr lang="en-IN" dirty="0" err="1"/>
              <a:t>y_true</a:t>
            </a:r>
            <a:r>
              <a:rPr lang="en-IN" dirty="0"/>
              <a:t>, </a:t>
            </a:r>
            <a:r>
              <a:rPr lang="en-IN" dirty="0" err="1"/>
              <a:t>y_pred</a:t>
            </a:r>
            <a:r>
              <a:rPr lang="en-IN" dirty="0"/>
              <a:t>, average='weighted')</a:t>
            </a:r>
          </a:p>
          <a:p>
            <a:endParaRPr lang="en-IN" dirty="0"/>
          </a:p>
          <a:p>
            <a:r>
              <a:rPr lang="en-IN" dirty="0"/>
              <a:t>print("F1 score per class:", f1_per_class)</a:t>
            </a:r>
          </a:p>
          <a:p>
            <a:r>
              <a:rPr lang="en-IN" dirty="0"/>
              <a:t>print("Micro-average F1 score:", f1_micro)</a:t>
            </a:r>
          </a:p>
          <a:p>
            <a:r>
              <a:rPr lang="en-IN" dirty="0"/>
              <a:t>print("Macro-average F1 score:", f1_macro)</a:t>
            </a:r>
          </a:p>
          <a:p>
            <a:r>
              <a:rPr lang="en-IN" dirty="0"/>
              <a:t>print("Weighted-average F1 score:", f1_weighted)</a:t>
            </a:r>
          </a:p>
        </p:txBody>
      </p:sp>
    </p:spTree>
    <p:extLst>
      <p:ext uri="{BB962C8B-B14F-4D97-AF65-F5344CB8AC3E}">
        <p14:creationId xmlns:p14="http://schemas.microsoft.com/office/powerpoint/2010/main" val="278297709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92925" y="624110"/>
            <a:ext cx="8911687" cy="672675"/>
          </a:xfrm>
        </p:spPr>
        <p:txBody>
          <a:bodyPr/>
          <a:lstStyle/>
          <a:p>
            <a:r>
              <a:rPr lang="en-US" dirty="0"/>
              <a:t>Implementing F1 Score in Python</a:t>
            </a:r>
            <a:endParaRPr lang="en-IN" dirty="0"/>
          </a:p>
        </p:txBody>
      </p:sp>
      <p:sp>
        <p:nvSpPr>
          <p:cNvPr id="3" name="Content Placeholder 2"/>
          <p:cNvSpPr>
            <a:spLocks noGrp="1"/>
          </p:cNvSpPr>
          <p:nvPr>
            <p:ph idx="1"/>
          </p:nvPr>
        </p:nvSpPr>
        <p:spPr/>
        <p:txBody>
          <a:bodyPr/>
          <a:lstStyle/>
          <a:p>
            <a:r>
              <a:rPr lang="en-US" dirty="0">
                <a:solidFill>
                  <a:srgbClr val="FF0000"/>
                </a:solidFill>
              </a:rPr>
              <a:t>Micro-average</a:t>
            </a:r>
            <a:r>
              <a:rPr lang="en-US" dirty="0"/>
              <a:t>: Calculates metrics globally by counting the total true positives, false negatives and false positives.</a:t>
            </a:r>
          </a:p>
          <a:p>
            <a:r>
              <a:rPr lang="en-US" dirty="0">
                <a:solidFill>
                  <a:srgbClr val="FF0000"/>
                </a:solidFill>
              </a:rPr>
              <a:t>Macro-average</a:t>
            </a:r>
            <a:r>
              <a:rPr lang="en-US" dirty="0"/>
              <a:t>: Averages the F1 score for each class without considering class imbalance.</a:t>
            </a:r>
          </a:p>
          <a:p>
            <a:r>
              <a:rPr lang="en-US" dirty="0">
                <a:solidFill>
                  <a:srgbClr val="FF0000"/>
                </a:solidFill>
              </a:rPr>
              <a:t>Weighted-average:</a:t>
            </a:r>
            <a:r>
              <a:rPr lang="en-US" dirty="0"/>
              <a:t> Considers class imbalance by weighting the F1 scores by the number of true instances for each class.</a:t>
            </a:r>
            <a:endParaRPr lang="en-IN" dirty="0"/>
          </a:p>
        </p:txBody>
      </p:sp>
    </p:spTree>
    <p:extLst>
      <p:ext uri="{BB962C8B-B14F-4D97-AF65-F5344CB8AC3E}">
        <p14:creationId xmlns:p14="http://schemas.microsoft.com/office/powerpoint/2010/main" val="282094455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endParaRPr lang="en-IN"/>
          </a:p>
        </p:txBody>
      </p:sp>
    </p:spTree>
    <p:extLst>
      <p:ext uri="{BB962C8B-B14F-4D97-AF65-F5344CB8AC3E}">
        <p14:creationId xmlns:p14="http://schemas.microsoft.com/office/powerpoint/2010/main" val="2090972735"/>
      </p:ext>
    </p:extLst>
  </p:cSld>
  <p:clrMapOvr>
    <a:masterClrMapping/>
  </p:clrMapOvr>
</p:sld>
</file>

<file path=ppt/theme/theme1.xml><?xml version="1.0" encoding="utf-8"?>
<a:theme xmlns:a="http://schemas.openxmlformats.org/drawingml/2006/main" name="Wisp">
  <a:themeElements>
    <a:clrScheme name="Wisp">
      <a:dk1>
        <a:sysClr val="windowText" lastClr="000000"/>
      </a:dk1>
      <a:lt1>
        <a:sysClr val="window" lastClr="FFFFFF"/>
      </a:lt1>
      <a:dk2>
        <a:srgbClr val="2E5369"/>
      </a:dk2>
      <a:lt2>
        <a:srgbClr val="CFE2E7"/>
      </a:lt2>
      <a:accent1>
        <a:srgbClr val="353535"/>
      </a:accent1>
      <a:accent2>
        <a:srgbClr val="31B4E6"/>
      </a:accent2>
      <a:accent3>
        <a:srgbClr val="265991"/>
      </a:accent3>
      <a:accent4>
        <a:srgbClr val="7E40CC"/>
      </a:accent4>
      <a:accent5>
        <a:srgbClr val="B927E9"/>
      </a:accent5>
      <a:accent6>
        <a:srgbClr val="E833BF"/>
      </a:accent6>
      <a:hlink>
        <a:srgbClr val="2DA0F1"/>
      </a:hlink>
      <a:folHlink>
        <a:srgbClr val="7ED1E6"/>
      </a:folHlink>
    </a:clrScheme>
    <a:fontScheme name="Wisp">
      <a:maj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Wisp">
      <a:fillStyleLst>
        <a:solidFill>
          <a:schemeClr val="phClr"/>
        </a:solidFill>
        <a:solidFill>
          <a:schemeClr val="phClr">
            <a:tint val="70000"/>
            <a:lumMod val="104000"/>
          </a:schemeClr>
        </a:solidFill>
        <a:gradFill rotWithShape="1">
          <a:gsLst>
            <a:gs pos="0">
              <a:schemeClr val="phClr">
                <a:tint val="96000"/>
                <a:lumMod val="104000"/>
              </a:schemeClr>
            </a:gs>
            <a:gs pos="100000">
              <a:schemeClr val="phClr">
                <a:shade val="98000"/>
                <a:lumMod val="94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outerShdw blurRad="38100" dist="25400" dir="5400000" rotWithShape="0">
              <a:srgbClr val="000000">
                <a:alpha val="25000"/>
              </a:srgbClr>
            </a:outerShdw>
          </a:effectLst>
        </a:effectStyle>
        <a:effectStyle>
          <a:effectLst>
            <a:outerShdw blurRad="50800" dist="38100" dir="5400000" rotWithShape="0">
              <a:srgbClr val="000000">
                <a:alpha val="60000"/>
              </a:srgbClr>
            </a:outerShdw>
          </a:effectLst>
        </a:effectStyle>
      </a:effectStyleLst>
      <a:bgFillStyleLst>
        <a:solidFill>
          <a:schemeClr val="phClr"/>
        </a:solidFill>
        <a:gradFill rotWithShape="1">
          <a:gsLst>
            <a:gs pos="0">
              <a:schemeClr val="phClr">
                <a:tint val="90000"/>
                <a:lumMod val="120000"/>
              </a:schemeClr>
            </a:gs>
            <a:gs pos="100000">
              <a:schemeClr val="phClr">
                <a:shade val="98000"/>
                <a:satMod val="120000"/>
                <a:lumMod val="98000"/>
              </a:schemeClr>
            </a:gs>
          </a:gsLst>
          <a:lin ang="5400000" scaled="0"/>
        </a:gradFill>
        <a:gradFill rotWithShape="1">
          <a:gsLst>
            <a:gs pos="0">
              <a:schemeClr val="phClr">
                <a:tint val="90000"/>
                <a:satMod val="92000"/>
                <a:lumMod val="120000"/>
              </a:schemeClr>
            </a:gs>
            <a:gs pos="100000">
              <a:schemeClr val="phClr">
                <a:shade val="98000"/>
                <a:satMod val="120000"/>
                <a:lumMod val="98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Wisp" id="{7CB32D59-10C0-40DD-B7BD-2E94284A981C}" vid="{4F34B87B-9C7A-41AE-A6CB-48536223DFFD}"/>
    </a:ext>
  </a:extLst>
</a:theme>
</file>

<file path=docProps/app.xml><?xml version="1.0" encoding="utf-8"?>
<Properties xmlns="http://schemas.openxmlformats.org/officeDocument/2006/extended-properties" xmlns:vt="http://schemas.openxmlformats.org/officeDocument/2006/docPropsVTypes">
  <Template>Wisp</Template>
  <TotalTime>1519</TotalTime>
  <Words>3067</Words>
  <Application>Microsoft Office PowerPoint</Application>
  <PresentationFormat>Widescreen</PresentationFormat>
  <Paragraphs>228</Paragraphs>
  <Slides>34</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34</vt:i4>
      </vt:variant>
    </vt:vector>
  </HeadingPairs>
  <TitlesOfParts>
    <vt:vector size="39" baseType="lpstr">
      <vt:lpstr>Arial</vt:lpstr>
      <vt:lpstr>Century Gothic</vt:lpstr>
      <vt:lpstr>Nunito</vt:lpstr>
      <vt:lpstr>Wingdings 3</vt:lpstr>
      <vt:lpstr>Wisp</vt:lpstr>
      <vt:lpstr>MACHINE LEARNING</vt:lpstr>
      <vt:lpstr>SYLLABUS</vt:lpstr>
      <vt:lpstr>Machine Learning (ML) </vt:lpstr>
      <vt:lpstr>How Machine Learning Works </vt:lpstr>
      <vt:lpstr>Types of Machine Learning  </vt:lpstr>
      <vt:lpstr>Applications of Machine Learning</vt:lpstr>
      <vt:lpstr>Benefits and Challenges</vt:lpstr>
      <vt:lpstr>ML</vt:lpstr>
      <vt:lpstr>Difference between Machine Learning, Traditional Programming and Artificial Intelligence</vt:lpstr>
      <vt:lpstr>How machine learning algorithms work?</vt:lpstr>
      <vt:lpstr>Machine Learning Lifecycle</vt:lpstr>
      <vt:lpstr>ML</vt:lpstr>
      <vt:lpstr>Types of Machine Learning</vt:lpstr>
      <vt:lpstr>2. Unsupervised Machine Learning </vt:lpstr>
      <vt:lpstr>3. Reinforcement Machine Learning</vt:lpstr>
      <vt:lpstr>Various Applications of Machine Learning</vt:lpstr>
      <vt:lpstr>Limitations of Machine Learning</vt:lpstr>
      <vt:lpstr>Explanation of the PAC Learning Framework and Its Importance</vt:lpstr>
      <vt:lpstr>Multiclassification</vt:lpstr>
      <vt:lpstr>Multiclass classification </vt:lpstr>
      <vt:lpstr>F1 Score in Machine Learning</vt:lpstr>
      <vt:lpstr>1. Precision:</vt:lpstr>
      <vt:lpstr>2. Recall:</vt:lpstr>
      <vt:lpstr>PowerPoint Presentation</vt:lpstr>
      <vt:lpstr>F1 Score by combining Precision and Recall</vt:lpstr>
      <vt:lpstr>1. Binary Classification</vt:lpstr>
      <vt:lpstr>Example</vt:lpstr>
      <vt:lpstr>PowerPoint Presentation</vt:lpstr>
      <vt:lpstr>PowerPoint Presentation</vt:lpstr>
      <vt:lpstr>F1 score </vt:lpstr>
      <vt:lpstr>Implementing F1 Score in Python</vt:lpstr>
      <vt:lpstr>from sklearn.metrics </vt:lpstr>
      <vt:lpstr>Implementing F1 Score in Python</vt:lpstr>
      <vt:lpstr>PowerPoint Presentation</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mruh</dc:creator>
  <cp:lastModifiedBy>mruh</cp:lastModifiedBy>
  <cp:revision>73</cp:revision>
  <dcterms:created xsi:type="dcterms:W3CDTF">2025-06-28T09:19:35Z</dcterms:created>
  <dcterms:modified xsi:type="dcterms:W3CDTF">2025-07-14T10:25:44Z</dcterms:modified>
</cp:coreProperties>
</file>