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83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90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4AAD347D-5ACD-4C99-B74B-A9C85AD731AF}" type="datetimeFigureOut">
              <a:rPr lang="en-US" smtClean="0"/>
              <a:t>9/12/2025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2859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9/12/2025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12096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9/12/2025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19362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9/12/2025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1390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9/12/2025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4458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9/12/2025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90757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9/12/2025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94783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9/12/2025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75276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9/12/2025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05340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9/12/2025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48007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9/12/2025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963095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9/12/2025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5185544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9/12/2025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124502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9/12/2025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8994702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9/12/2025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2233251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9/12/2025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39965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9/12/2025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0758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AAD347D-5ACD-4C99-B74B-A9C85AD731AF}" type="datetimeFigureOut">
              <a:rPr lang="en-US" smtClean="0"/>
              <a:t>9/12/2025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3958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  <p:sldLayoutId id="2147483695" r:id="rId12"/>
    <p:sldLayoutId id="2147483696" r:id="rId13"/>
    <p:sldLayoutId id="2147483697" r:id="rId14"/>
    <p:sldLayoutId id="2147483698" r:id="rId15"/>
    <p:sldLayoutId id="2147483699" r:id="rId16"/>
    <p:sldLayoutId id="2147483700" r:id="rId17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5117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982133"/>
            <a:ext cx="9601196" cy="497044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MACHINE  LEARNING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1" y="2501153"/>
            <a:ext cx="9601196" cy="3374715"/>
          </a:xfrm>
        </p:spPr>
        <p:txBody>
          <a:bodyPr>
            <a:noAutofit/>
          </a:bodyPr>
          <a:lstStyle/>
          <a:p>
            <a:r>
              <a:rPr lang="en-US" sz="1200" dirty="0"/>
              <a:t>Common Algorithms and Techniques</a:t>
            </a:r>
          </a:p>
          <a:p>
            <a:r>
              <a:rPr lang="en-US" sz="1200" dirty="0" smtClean="0"/>
              <a:t>Linear </a:t>
            </a:r>
            <a:r>
              <a:rPr lang="en-US" sz="1200" dirty="0"/>
              <a:t>Regression: Models the relationship between input and output using a straight line.</a:t>
            </a:r>
          </a:p>
          <a:p>
            <a:r>
              <a:rPr lang="en-US" sz="1200" dirty="0" smtClean="0"/>
              <a:t>Logistic </a:t>
            </a:r>
            <a:r>
              <a:rPr lang="en-US" sz="1200" dirty="0"/>
              <a:t>Regression: Used for binary classification problems.</a:t>
            </a:r>
          </a:p>
          <a:p>
            <a:r>
              <a:rPr lang="en-US" sz="1200" dirty="0" smtClean="0"/>
              <a:t>Decision </a:t>
            </a:r>
            <a:r>
              <a:rPr lang="en-US" sz="1200" dirty="0"/>
              <a:t>Trees: Splits data into branches based on conditions.</a:t>
            </a:r>
          </a:p>
          <a:p>
            <a:r>
              <a:rPr lang="en-US" sz="1200" dirty="0" smtClean="0"/>
              <a:t>Random </a:t>
            </a:r>
            <a:r>
              <a:rPr lang="en-US" sz="1200" dirty="0"/>
              <a:t>Forest: An ensemble of decision trees for improved accuracy.</a:t>
            </a:r>
          </a:p>
          <a:p>
            <a:r>
              <a:rPr lang="en-US" sz="1200" dirty="0" smtClean="0"/>
              <a:t>Support </a:t>
            </a:r>
            <a:r>
              <a:rPr lang="en-US" sz="1200" dirty="0"/>
              <a:t>Vector Machines (SVM): Finds the optimal boundary to separate classes.</a:t>
            </a:r>
          </a:p>
          <a:p>
            <a:r>
              <a:rPr lang="en-US" sz="1200" dirty="0" smtClean="0"/>
              <a:t>K-Nearest </a:t>
            </a:r>
            <a:r>
              <a:rPr lang="en-US" sz="1200" dirty="0"/>
              <a:t>Neighbors (KNN): Classifies data based on the closest neighbors.</a:t>
            </a:r>
          </a:p>
          <a:p>
            <a:r>
              <a:rPr lang="en-US" sz="1200" dirty="0" smtClean="0"/>
              <a:t>Naive </a:t>
            </a:r>
            <a:r>
              <a:rPr lang="en-US" sz="1200" dirty="0"/>
              <a:t>Bayes: A probabilistic classifier based on Bayes' theorem.</a:t>
            </a:r>
          </a:p>
          <a:p>
            <a:r>
              <a:rPr lang="en-US" sz="1200" dirty="0" smtClean="0"/>
              <a:t>Gradient </a:t>
            </a:r>
            <a:r>
              <a:rPr lang="en-US" sz="1200" dirty="0"/>
              <a:t>Boosting: Sequentially builds models to correct errors of previous models (e.g., </a:t>
            </a:r>
            <a:r>
              <a:rPr lang="en-US" sz="1200" dirty="0" err="1"/>
              <a:t>XGBoost</a:t>
            </a:r>
            <a:r>
              <a:rPr lang="en-US" sz="1200" dirty="0"/>
              <a:t>).</a:t>
            </a:r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34285350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55239"/>
            <a:ext cx="9601196" cy="774950"/>
          </a:xfrm>
        </p:spPr>
        <p:txBody>
          <a:bodyPr>
            <a:normAutofit fontScale="90000"/>
          </a:bodyPr>
          <a:lstStyle/>
          <a:p>
            <a:r>
              <a:rPr lang="en-IN" dirty="0"/>
              <a:t>Key Concepts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Feature Engineering: Creating new features or transforming existing ones to improve model performance.</a:t>
            </a:r>
          </a:p>
          <a:p>
            <a:r>
              <a:rPr lang="en-US" dirty="0" err="1"/>
              <a:t>Overfitting</a:t>
            </a:r>
            <a:r>
              <a:rPr lang="en-US" dirty="0"/>
              <a:t>: When a model performs well on training data but poorly on unseen data.</a:t>
            </a:r>
          </a:p>
          <a:p>
            <a:r>
              <a:rPr lang="en-US" dirty="0"/>
              <a:t>Regularization: Techniques like L1 and L2 to prevent </a:t>
            </a:r>
            <a:r>
              <a:rPr lang="en-US" dirty="0" err="1"/>
              <a:t>overfitting</a:t>
            </a:r>
            <a:r>
              <a:rPr lang="en-US" dirty="0"/>
              <a:t> by penalizing large weights.</a:t>
            </a:r>
          </a:p>
          <a:p>
            <a:r>
              <a:rPr lang="en-US" dirty="0"/>
              <a:t>Cross-Validation: Splitting data into subsets to evaluate model performance.</a:t>
            </a:r>
          </a:p>
          <a:p>
            <a:r>
              <a:rPr lang="en-US" dirty="0" err="1"/>
              <a:t>Hyperparameter</a:t>
            </a:r>
            <a:r>
              <a:rPr lang="en-US" dirty="0"/>
              <a:t> Tuning: Optimizing parameters like learning rate or tree depth for better performance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144099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982133"/>
            <a:ext cx="9601196" cy="694268"/>
          </a:xfrm>
        </p:spPr>
        <p:txBody>
          <a:bodyPr>
            <a:normAutofit fontScale="90000"/>
          </a:bodyPr>
          <a:lstStyle/>
          <a:p>
            <a:r>
              <a:rPr lang="en-IN" dirty="0"/>
              <a:t>Metrics for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Accuracy: Proportion of correct predictions.</a:t>
            </a:r>
          </a:p>
          <a:p>
            <a:r>
              <a:rPr lang="en-US" dirty="0" smtClean="0"/>
              <a:t>Precision</a:t>
            </a:r>
            <a:r>
              <a:rPr lang="en-US" dirty="0"/>
              <a:t>: Correct positive predictions out of all positive predictions.</a:t>
            </a:r>
          </a:p>
          <a:p>
            <a:r>
              <a:rPr lang="en-US" dirty="0" smtClean="0"/>
              <a:t>Recall</a:t>
            </a:r>
            <a:r>
              <a:rPr lang="en-US" dirty="0"/>
              <a:t>: Correct positive predictions out of all actual positives.</a:t>
            </a:r>
          </a:p>
          <a:p>
            <a:r>
              <a:rPr lang="en-US" dirty="0" smtClean="0"/>
              <a:t>F1 </a:t>
            </a:r>
            <a:r>
              <a:rPr lang="en-US" dirty="0"/>
              <a:t>Score: Harmonic mean of precision and recall.</a:t>
            </a:r>
          </a:p>
          <a:p>
            <a:r>
              <a:rPr lang="en-US" dirty="0" smtClean="0"/>
              <a:t>AUC-ROC</a:t>
            </a:r>
            <a:r>
              <a:rPr lang="en-US" dirty="0"/>
              <a:t>: Measures the ability of a model to distinguish between classes.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30388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982133"/>
            <a:ext cx="9601196" cy="362574"/>
          </a:xfrm>
        </p:spPr>
        <p:txBody>
          <a:bodyPr>
            <a:normAutofit fontScale="90000"/>
          </a:bodyPr>
          <a:lstStyle/>
          <a:p>
            <a:r>
              <a:rPr lang="en-IN" dirty="0"/>
              <a:t>Advanced Techniques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1" y="2662518"/>
            <a:ext cx="9601196" cy="3213350"/>
          </a:xfrm>
        </p:spPr>
        <p:txBody>
          <a:bodyPr>
            <a:normAutofit fontScale="70000" lnSpcReduction="20000"/>
          </a:bodyPr>
          <a:lstStyle/>
          <a:p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Ensemble Learning</a:t>
            </a:r>
            <a:r>
              <a:rPr lang="en-US" dirty="0"/>
              <a:t>: Combines multiple models to improve performance (e.g., Bagging, Boosting).</a:t>
            </a:r>
          </a:p>
          <a:p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Deep Learning</a:t>
            </a:r>
            <a:r>
              <a:rPr lang="en-US" dirty="0"/>
              <a:t>: Uses neural networks with multiple layers for complex tasks like image recognition.</a:t>
            </a:r>
          </a:p>
          <a:p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Transfer Learning</a:t>
            </a:r>
            <a:r>
              <a:rPr lang="en-US" dirty="0"/>
              <a:t>: Adapts a pre-trained model to a new task.</a:t>
            </a:r>
          </a:p>
          <a:p>
            <a:endParaRPr lang="en-US" dirty="0"/>
          </a:p>
          <a:p>
            <a:r>
              <a:rPr lang="en-US" dirty="0" err="1">
                <a:solidFill>
                  <a:srgbClr val="FF0000"/>
                </a:solidFill>
              </a:rPr>
              <a:t>AutoML</a:t>
            </a:r>
            <a:r>
              <a:rPr lang="en-US" dirty="0">
                <a:solidFill>
                  <a:srgbClr val="FF0000"/>
                </a:solidFill>
              </a:rPr>
              <a:t>:</a:t>
            </a:r>
            <a:r>
              <a:rPr lang="en-US" dirty="0"/>
              <a:t> Automates the process of model selection, </a:t>
            </a:r>
            <a:r>
              <a:rPr lang="en-US" dirty="0" err="1"/>
              <a:t>hyperparameter</a:t>
            </a:r>
            <a:r>
              <a:rPr lang="en-US" dirty="0"/>
              <a:t> tuning, and deployment.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335472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982133"/>
            <a:ext cx="9601196" cy="461186"/>
          </a:xfrm>
        </p:spPr>
        <p:txBody>
          <a:bodyPr>
            <a:normAutofit fontScale="90000"/>
          </a:bodyPr>
          <a:lstStyle/>
          <a:p>
            <a:r>
              <a:rPr lang="en-IN" dirty="0"/>
              <a:t>Deployment and </a:t>
            </a:r>
            <a:r>
              <a:rPr lang="en-IN" dirty="0" err="1"/>
              <a:t>MLOps</a:t>
            </a:r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Model Deployment: Integrating trained models into applications using tools like Flask, </a:t>
            </a:r>
            <a:r>
              <a:rPr lang="en-US" dirty="0" err="1"/>
              <a:t>FastAPI</a:t>
            </a:r>
            <a:r>
              <a:rPr lang="en-US" dirty="0"/>
              <a:t>, or </a:t>
            </a:r>
            <a:r>
              <a:rPr lang="en-US" dirty="0" err="1"/>
              <a:t>Streamlit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MLOps</a:t>
            </a:r>
            <a:r>
              <a:rPr lang="en-US" dirty="0"/>
              <a:t>: Practices for managing ML models in production, including CI/CD pipelines and monitoring.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7471184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34</TotalTime>
  <Words>335</Words>
  <Application>Microsoft Office PowerPoint</Application>
  <PresentationFormat>Widescreen</PresentationFormat>
  <Paragraphs>36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Garamond</vt:lpstr>
      <vt:lpstr>Organic</vt:lpstr>
      <vt:lpstr>PowerPoint Presentation</vt:lpstr>
      <vt:lpstr>MACHINE  LEARNING</vt:lpstr>
      <vt:lpstr>Key Concepts </vt:lpstr>
      <vt:lpstr>Metrics for Evaluation</vt:lpstr>
      <vt:lpstr>Advanced Techniques </vt:lpstr>
      <vt:lpstr>Deployment and MLOps 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mruh</dc:creator>
  <cp:lastModifiedBy>mruh</cp:lastModifiedBy>
  <cp:revision>9</cp:revision>
  <dcterms:created xsi:type="dcterms:W3CDTF">2025-09-11T09:12:28Z</dcterms:created>
  <dcterms:modified xsi:type="dcterms:W3CDTF">2025-09-12T05:59:32Z</dcterms:modified>
</cp:coreProperties>
</file>